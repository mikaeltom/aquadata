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2" r:id="rId2"/>
  </p:sldIdLst>
  <p:sldSz cx="32899350" cy="43562588"/>
  <p:notesSz cx="6867525" cy="99933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720">
          <p15:clr>
            <a:srgbClr val="A4A3A4"/>
          </p15:clr>
        </p15:guide>
        <p15:guide id="2" pos="103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8"/>
    <a:srgbClr val="F8FFFA"/>
    <a:srgbClr val="F0FAFF"/>
    <a:srgbClr val="DFF6FF"/>
    <a:srgbClr val="E4F6F7"/>
    <a:srgbClr val="CEF3F5"/>
    <a:srgbClr val="E9FBEB"/>
    <a:srgbClr val="FFEAED"/>
    <a:srgbClr val="E2DCEC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4"/>
  </p:normalViewPr>
  <p:slideViewPr>
    <p:cSldViewPr snapToGrid="0">
      <p:cViewPr>
        <p:scale>
          <a:sx n="25" d="100"/>
          <a:sy n="25" d="100"/>
        </p:scale>
        <p:origin x="1488" y="-648"/>
      </p:cViewPr>
      <p:guideLst>
        <p:guide orient="horz" pos="13720"/>
        <p:guide pos="103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656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9375" y="0"/>
            <a:ext cx="2976563" cy="5000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304C0014-FFDD-4023-8AAB-93AE7091450A}" type="datetimeFigureOut">
              <a:rPr lang="fr-BE"/>
              <a:pPr>
                <a:defRPr/>
              </a:pPr>
              <a:t>14/03/25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91663"/>
            <a:ext cx="297656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9375" y="9491663"/>
            <a:ext cx="2976563" cy="50006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232A62E5-7DE5-4840-BFB7-BE889DCC9A5A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726324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656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9375" y="0"/>
            <a:ext cx="2976563" cy="5000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B307959A-D026-4889-BBC8-59C5F910EA23}" type="datetimeFigureOut">
              <a:rPr lang="fr-BE"/>
              <a:pPr>
                <a:defRPr/>
              </a:pPr>
              <a:t>14/03/25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17713" y="749300"/>
            <a:ext cx="2832100" cy="3748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BE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7388" y="4746625"/>
            <a:ext cx="5492750" cy="44973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BE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91663"/>
            <a:ext cx="297656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9375" y="9491663"/>
            <a:ext cx="2976563" cy="50006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57241870-3BE1-4A50-B736-F0285622E371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670780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CF7B0-F1BE-E77A-20CF-82762BC7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id="{E5E316A3-A70F-6B32-7FE3-8576804773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ce réservé des commentaires 2">
            <a:extLst>
              <a:ext uri="{FF2B5EF4-FFF2-40B4-BE49-F238E27FC236}">
                <a16:creationId xmlns:a16="http://schemas.microsoft.com/office/drawing/2014/main" id="{D73064DD-7F1E-D9EA-92A1-1A9AC69704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BE" altLang="fr-FR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6930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66975" y="13531850"/>
            <a:ext cx="27965400" cy="9339263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935538" y="24685625"/>
            <a:ext cx="23028275" cy="1113313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978FF-AE9A-4BE6-A95A-E3D153B7610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28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F1498A-0910-4319-80F8-AB3938A176C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965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8738" y="27992388"/>
            <a:ext cx="27963812" cy="86518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98738" y="18464213"/>
            <a:ext cx="27963812" cy="9528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21D13-DE9D-46BD-A5A0-83FE51B4711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300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466975" y="12584113"/>
            <a:ext cx="13906500" cy="26138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525875" y="12584113"/>
            <a:ext cx="13906500" cy="26138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0A8D3E-1D59-4132-82B4-CEA21FD429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770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44650" y="1744663"/>
            <a:ext cx="29610050" cy="7259637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44650" y="9750425"/>
            <a:ext cx="14536738" cy="4064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44650" y="13814425"/>
            <a:ext cx="14536738" cy="25099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6713200" y="9750425"/>
            <a:ext cx="14541500" cy="4064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6713200" y="13814425"/>
            <a:ext cx="14541500" cy="25099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69B20-7516-411E-898A-C50562FD323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281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95042-D50E-4E43-8C90-881E13D7B67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45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9946D-8651-4DE6-9044-D5C3264FDE6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750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44650" y="1735138"/>
            <a:ext cx="10823575" cy="73802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863513" y="1735138"/>
            <a:ext cx="18391187" cy="37179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44650" y="9115425"/>
            <a:ext cx="10823575" cy="29798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A57B1-9737-43F1-B7FF-32FDD32C388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735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48425" y="30494288"/>
            <a:ext cx="19738975" cy="35988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448425" y="3892550"/>
            <a:ext cx="19738975" cy="261381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BE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448425" y="34093150"/>
            <a:ext cx="19738975" cy="51133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927A8-AE89-4591-85F6-A4B2E07CB52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08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DBC7A-E348-4FDD-9F7A-5330C3D3D8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97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3441025" y="3871913"/>
            <a:ext cx="6991350" cy="34850387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466975" y="3871913"/>
            <a:ext cx="20821650" cy="3485038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1C180-7774-4464-8C7D-F064E12966E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2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6975" y="3871913"/>
            <a:ext cx="27965400" cy="726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6919" tIns="218459" rIns="436919" bIns="21845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et modifiez le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66975" y="12584113"/>
            <a:ext cx="27965400" cy="261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6919" tIns="218459" rIns="436919" bIns="2184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66975" y="39690675"/>
            <a:ext cx="68548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6919" tIns="218459" rIns="436919" bIns="218459" numCol="1" anchor="t" anchorCtr="0" compatLnSpc="1">
            <a:prstTxWarp prst="textNoShape">
              <a:avLst/>
            </a:prstTxWarp>
          </a:bodyPr>
          <a:lstStyle>
            <a:lvl1pPr defTabSz="4368800">
              <a:defRPr sz="67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1088" y="39690675"/>
            <a:ext cx="1041717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6919" tIns="218459" rIns="436919" bIns="218459" numCol="1" anchor="t" anchorCtr="0" compatLnSpc="1">
            <a:prstTxWarp prst="textNoShape">
              <a:avLst/>
            </a:prstTxWarp>
          </a:bodyPr>
          <a:lstStyle>
            <a:lvl1pPr algn="ctr" defTabSz="4368800">
              <a:defRPr sz="67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77550" y="39690675"/>
            <a:ext cx="68548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6919" tIns="218459" rIns="436919" bIns="218459" numCol="1" anchor="t" anchorCtr="0" compatLnSpc="1">
            <a:prstTxWarp prst="textNoShape">
              <a:avLst/>
            </a:prstTxWarp>
          </a:bodyPr>
          <a:lstStyle>
            <a:lvl1pPr algn="r" defTabSz="4368800">
              <a:defRPr sz="6700">
                <a:latin typeface="Arial" pitchFamily="34" charset="0"/>
              </a:defRPr>
            </a:lvl1pPr>
          </a:lstStyle>
          <a:p>
            <a:pPr>
              <a:defRPr/>
            </a:pPr>
            <a:fld id="{1E413866-0F0A-4397-B4FA-16DD288A855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6880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defTabSz="436880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Arial" charset="0"/>
          <a:ea typeface="ＭＳ Ｐゴシック" pitchFamily="1" charset="-128"/>
          <a:cs typeface="ＭＳ Ｐゴシック" charset="0"/>
        </a:defRPr>
      </a:lvl2pPr>
      <a:lvl3pPr algn="ctr" defTabSz="436880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Arial" charset="0"/>
          <a:ea typeface="ＭＳ Ｐゴシック" pitchFamily="1" charset="-128"/>
          <a:cs typeface="ＭＳ Ｐゴシック" charset="0"/>
        </a:defRPr>
      </a:lvl3pPr>
      <a:lvl4pPr algn="ctr" defTabSz="436880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Arial" charset="0"/>
          <a:ea typeface="ＭＳ Ｐゴシック" pitchFamily="1" charset="-128"/>
          <a:cs typeface="ＭＳ Ｐゴシック" charset="0"/>
        </a:defRPr>
      </a:lvl4pPr>
      <a:lvl5pPr algn="ctr" defTabSz="436880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Arial" charset="0"/>
          <a:ea typeface="ＭＳ Ｐゴシック" pitchFamily="1" charset="-128"/>
          <a:cs typeface="ＭＳ Ｐゴシック" charset="0"/>
        </a:defRPr>
      </a:lvl5pPr>
      <a:lvl6pPr marL="457200" algn="ctr" defTabSz="4368800" rtl="0" fontAlgn="base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Arial" charset="0"/>
          <a:ea typeface="ＭＳ Ｐゴシック" pitchFamily="1" charset="-128"/>
        </a:defRPr>
      </a:lvl6pPr>
      <a:lvl7pPr marL="914400" algn="ctr" defTabSz="4368800" rtl="0" fontAlgn="base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Arial" charset="0"/>
          <a:ea typeface="ＭＳ Ｐゴシック" pitchFamily="1" charset="-128"/>
        </a:defRPr>
      </a:lvl7pPr>
      <a:lvl8pPr marL="1371600" algn="ctr" defTabSz="4368800" rtl="0" fontAlgn="base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Arial" charset="0"/>
          <a:ea typeface="ＭＳ Ｐゴシック" pitchFamily="1" charset="-128"/>
        </a:defRPr>
      </a:lvl8pPr>
      <a:lvl9pPr marL="1828800" algn="ctr" defTabSz="4368800" rtl="0" fontAlgn="base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Arial" charset="0"/>
          <a:ea typeface="ＭＳ Ｐゴシック" pitchFamily="1" charset="-128"/>
        </a:defRPr>
      </a:lvl9pPr>
    </p:titleStyle>
    <p:bodyStyle>
      <a:lvl1pPr marL="1638300" indent="-1638300" algn="l" defTabSz="4368800" rtl="0" eaLnBrk="0" fontAlgn="base" hangingPunct="0">
        <a:spcBef>
          <a:spcPct val="20000"/>
        </a:spcBef>
        <a:spcAft>
          <a:spcPct val="0"/>
        </a:spcAft>
        <a:buChar char="•"/>
        <a:defRPr sz="153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3549650" indent="-1365250" algn="l" defTabSz="4368800" rtl="0" eaLnBrk="0" fontAlgn="base" hangingPunct="0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ea"/>
        </a:defRPr>
      </a:lvl2pPr>
      <a:lvl3pPr marL="5461000" indent="-1092200" algn="l" defTabSz="4368800" rtl="0" eaLnBrk="0" fontAlgn="base" hangingPunct="0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ea"/>
        </a:defRPr>
      </a:lvl3pPr>
      <a:lvl4pPr marL="7645400" indent="-1092200" algn="l" defTabSz="436880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ea"/>
        </a:defRPr>
      </a:lvl4pPr>
      <a:lvl5pPr marL="9831388" indent="-1093788" algn="l" defTabSz="436880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ea"/>
        </a:defRPr>
      </a:lvl5pPr>
      <a:lvl6pPr marL="10288588" indent="-1093788" algn="l" defTabSz="4368800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ea"/>
        </a:defRPr>
      </a:lvl6pPr>
      <a:lvl7pPr marL="10745788" indent="-1093788" algn="l" defTabSz="4368800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ea"/>
        </a:defRPr>
      </a:lvl7pPr>
      <a:lvl8pPr marL="11202988" indent="-1093788" algn="l" defTabSz="4368800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ea"/>
        </a:defRPr>
      </a:lvl8pPr>
      <a:lvl9pPr marL="11660188" indent="-1093788" algn="l" defTabSz="4368800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sv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63" Type="http://schemas.openxmlformats.org/officeDocument/2006/relationships/image" Target="../media/image6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45" Type="http://schemas.openxmlformats.org/officeDocument/2006/relationships/image" Target="../media/image43.svg"/><Relationship Id="rId53" Type="http://schemas.openxmlformats.org/officeDocument/2006/relationships/image" Target="../media/image51.png"/><Relationship Id="rId58" Type="http://schemas.openxmlformats.org/officeDocument/2006/relationships/image" Target="../media/image56.svg"/><Relationship Id="rId5" Type="http://schemas.openxmlformats.org/officeDocument/2006/relationships/image" Target="../media/image3.svg"/><Relationship Id="rId61" Type="http://schemas.openxmlformats.org/officeDocument/2006/relationships/image" Target="../media/image59.png"/><Relationship Id="rId19" Type="http://schemas.openxmlformats.org/officeDocument/2006/relationships/image" Target="../media/image1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43" Type="http://schemas.openxmlformats.org/officeDocument/2006/relationships/image" Target="../media/image41.svg"/><Relationship Id="rId48" Type="http://schemas.openxmlformats.org/officeDocument/2006/relationships/image" Target="../media/image46.png"/><Relationship Id="rId56" Type="http://schemas.openxmlformats.org/officeDocument/2006/relationships/image" Target="../media/image54.svg"/><Relationship Id="rId8" Type="http://schemas.openxmlformats.org/officeDocument/2006/relationships/image" Target="../media/image6.png"/><Relationship Id="rId51" Type="http://schemas.openxmlformats.org/officeDocument/2006/relationships/image" Target="../media/image49.sv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20" Type="http://schemas.openxmlformats.org/officeDocument/2006/relationships/image" Target="../media/image18.png"/><Relationship Id="rId41" Type="http://schemas.openxmlformats.org/officeDocument/2006/relationships/image" Target="../media/image39.svg"/><Relationship Id="rId54" Type="http://schemas.openxmlformats.org/officeDocument/2006/relationships/image" Target="../media/image52.svg"/><Relationship Id="rId6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sv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sv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F0856-CB8D-909A-5F8E-45704446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EEDF17AE-F2F1-940D-37A1-84FE097B980A}"/>
              </a:ext>
            </a:extLst>
          </p:cNvPr>
          <p:cNvSpPr/>
          <p:nvPr/>
        </p:nvSpPr>
        <p:spPr bwMode="auto">
          <a:xfrm>
            <a:off x="18242642" y="12721608"/>
            <a:ext cx="14129726" cy="6312292"/>
          </a:xfrm>
          <a:prstGeom prst="roundRect">
            <a:avLst>
              <a:gd name="adj" fmla="val 9535"/>
            </a:avLst>
          </a:prstGeom>
          <a:solidFill>
            <a:srgbClr val="FFE4E9"/>
          </a:solidFill>
          <a:ln w="12700" cap="flat" cmpd="sng" algn="ctr">
            <a:solidFill>
              <a:srgbClr val="E9427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115" name="Rectangle : coins arrondis 2114">
            <a:extLst>
              <a:ext uri="{FF2B5EF4-FFF2-40B4-BE49-F238E27FC236}">
                <a16:creationId xmlns:a16="http://schemas.microsoft.com/office/drawing/2014/main" id="{09251599-6544-84BF-A5BE-C9BBA564531C}"/>
              </a:ext>
            </a:extLst>
          </p:cNvPr>
          <p:cNvSpPr/>
          <p:nvPr/>
        </p:nvSpPr>
        <p:spPr bwMode="auto">
          <a:xfrm>
            <a:off x="1687716" y="7420765"/>
            <a:ext cx="16035516" cy="11602479"/>
          </a:xfrm>
          <a:prstGeom prst="roundRect">
            <a:avLst>
              <a:gd name="adj" fmla="val 9535"/>
            </a:avLst>
          </a:prstGeom>
          <a:noFill/>
          <a:ln w="101600" cap="flat" cmpd="sng" algn="ctr">
            <a:solidFill>
              <a:srgbClr val="E9427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052" name="Rectangle : coins arrondis 2051">
            <a:extLst>
              <a:ext uri="{FF2B5EF4-FFF2-40B4-BE49-F238E27FC236}">
                <a16:creationId xmlns:a16="http://schemas.microsoft.com/office/drawing/2014/main" id="{66BC8278-B680-9ABF-0027-8C5AA252A762}"/>
              </a:ext>
            </a:extLst>
          </p:cNvPr>
          <p:cNvSpPr/>
          <p:nvPr/>
        </p:nvSpPr>
        <p:spPr bwMode="auto">
          <a:xfrm>
            <a:off x="13887431" y="32154843"/>
            <a:ext cx="18736492" cy="6660185"/>
          </a:xfrm>
          <a:prstGeom prst="roundRect">
            <a:avLst/>
          </a:prstGeom>
          <a:noFill/>
          <a:ln w="101600" cap="flat" cmpd="sng" algn="ctr">
            <a:solidFill>
              <a:srgbClr val="E9427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21A29C25-99EC-0A67-798C-FA4A3AA959BB}"/>
              </a:ext>
            </a:extLst>
          </p:cNvPr>
          <p:cNvSpPr/>
          <p:nvPr/>
        </p:nvSpPr>
        <p:spPr bwMode="auto">
          <a:xfrm>
            <a:off x="1722945" y="19747297"/>
            <a:ext cx="30829324" cy="11955091"/>
          </a:xfrm>
          <a:prstGeom prst="roundRect">
            <a:avLst/>
          </a:prstGeom>
          <a:solidFill>
            <a:srgbClr val="B2D6B6"/>
          </a:solidFill>
          <a:ln w="31750" cap="flat" cmpd="sng" algn="ctr">
            <a:solidFill>
              <a:srgbClr val="37AC5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B58A87C-A69E-55EF-9FE5-7C3D17A303C0}"/>
              </a:ext>
            </a:extLst>
          </p:cNvPr>
          <p:cNvSpPr/>
          <p:nvPr/>
        </p:nvSpPr>
        <p:spPr bwMode="auto">
          <a:xfrm>
            <a:off x="2114904" y="20130908"/>
            <a:ext cx="30012254" cy="11208583"/>
          </a:xfrm>
          <a:prstGeom prst="roundRect">
            <a:avLst/>
          </a:prstGeom>
          <a:solidFill>
            <a:srgbClr val="E9FBEB"/>
          </a:solidFill>
          <a:ln w="28575">
            <a:solidFill>
              <a:srgbClr val="37AC51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pic>
        <p:nvPicPr>
          <p:cNvPr id="3" name="Image 2" descr="Une image contenant texte, Police, jaune, Graphique&#10;&#10;Description générée automatiquement">
            <a:extLst>
              <a:ext uri="{FF2B5EF4-FFF2-40B4-BE49-F238E27FC236}">
                <a16:creationId xmlns:a16="http://schemas.microsoft.com/office/drawing/2014/main" id="{7DEDF139-91F0-35F5-FBAE-32506D180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162" y="9478"/>
            <a:ext cx="31579394" cy="4331687"/>
          </a:xfrm>
          <a:prstGeom prst="rect">
            <a:avLst/>
          </a:prstGeom>
        </p:spPr>
      </p:pic>
      <p:sp>
        <p:nvSpPr>
          <p:cNvPr id="2070" name="ZoneTexte 1">
            <a:extLst>
              <a:ext uri="{FF2B5EF4-FFF2-40B4-BE49-F238E27FC236}">
                <a16:creationId xmlns:a16="http://schemas.microsoft.com/office/drawing/2014/main" id="{315470EC-8A48-3EF2-1F92-567D95290C4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 rot="16200000">
            <a:off x="-21167694" y="21130919"/>
            <a:ext cx="43628508" cy="1312861"/>
          </a:xfrm>
          <a:prstGeom prst="rect">
            <a:avLst/>
          </a:prstGeom>
          <a:solidFill>
            <a:srgbClr val="6C5098"/>
          </a:solidFill>
          <a:ln>
            <a:noFill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spcAft>
                <a:spcPts val="1800"/>
              </a:spcAft>
              <a:tabLst>
                <a:tab pos="30853063" algn="l"/>
              </a:tabLst>
              <a:defRPr/>
            </a:pPr>
            <a:r>
              <a:rPr lang="fr-FR" sz="6600" b="1">
                <a:solidFill>
                  <a:schemeClr val="accent3"/>
                </a:solidFill>
                <a:latin typeface="Cabinet Grotesk" pitchFamily="50" charset="0"/>
              </a:rPr>
              <a:t>UNIVERSITÉ LIBRE DE BRUXELLES</a:t>
            </a:r>
            <a:r>
              <a:rPr lang="fr-FR" sz="6600">
                <a:solidFill>
                  <a:schemeClr val="accent3"/>
                </a:solidFill>
                <a:latin typeface="Cabinet Grotesk" pitchFamily="50" charset="0"/>
              </a:rPr>
              <a:t> – </a:t>
            </a:r>
            <a:r>
              <a:rPr lang="fr-FR" sz="6600" b="1">
                <a:solidFill>
                  <a:schemeClr val="accent3"/>
                </a:solidFill>
                <a:latin typeface="Cabinet Grotesk" pitchFamily="50" charset="0"/>
              </a:rPr>
              <a:t>FACULTÉ DES SCIENCES</a:t>
            </a:r>
          </a:p>
        </p:txBody>
      </p:sp>
      <p:sp>
        <p:nvSpPr>
          <p:cNvPr id="18" name="Zone de texte 11">
            <a:extLst>
              <a:ext uri="{FF2B5EF4-FFF2-40B4-BE49-F238E27FC236}">
                <a16:creationId xmlns:a16="http://schemas.microsoft.com/office/drawing/2014/main" id="{2307FD3E-EC1D-83E4-5814-524009F3A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428" y="42879638"/>
            <a:ext cx="31596359" cy="721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fr-FR" altLang="fr-FR" sz="1900">
                <a:latin typeface="Cabinet Grotesk" pitchFamily="50" charset="0"/>
              </a:rPr>
              <a:t>© Toute reproduction, m</a:t>
            </a:r>
            <a:r>
              <a:rPr lang="fr-FR" altLang="ja-JP" sz="1900">
                <a:latin typeface="Cabinet Grotesk" pitchFamily="50" charset="0"/>
              </a:rPr>
              <a:t>ême</a:t>
            </a:r>
            <a:r>
              <a:rPr lang="fr-FR" altLang="fr-FR" sz="1900">
                <a:latin typeface="Cabinet Grotesk" pitchFamily="50" charset="0"/>
              </a:rPr>
              <a:t> partielle, doit indiquer clairement le nom de tous les auteurs, le nom du Département, ainsi que la mention « Printemps des Sciences 2025 – Exposition des Sciences – Bruxelles »</a:t>
            </a:r>
          </a:p>
          <a:p>
            <a:pPr algn="ctr"/>
            <a:endParaRPr lang="fr-FR" altLang="fr-FR" sz="1900">
              <a:latin typeface="Cabinet Grotesk" pitchFamily="50" charset="0"/>
            </a:endParaRPr>
          </a:p>
        </p:txBody>
      </p:sp>
      <p:sp>
        <p:nvSpPr>
          <p:cNvPr id="13" name="Zone de texte 40">
            <a:extLst>
              <a:ext uri="{FF2B5EF4-FFF2-40B4-BE49-F238E27FC236}">
                <a16:creationId xmlns:a16="http://schemas.microsoft.com/office/drawing/2014/main" id="{99224706-80A1-5C97-87B1-21FC268EB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2322" y="751194"/>
            <a:ext cx="13812146" cy="2736304"/>
          </a:xfrm>
          <a:prstGeom prst="rect">
            <a:avLst/>
          </a:prstGeom>
          <a:noFill/>
          <a:ln w="12700">
            <a:noFill/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spcAft>
                <a:spcPts val="1200"/>
              </a:spcAft>
            </a:pPr>
            <a:endParaRPr lang="fr-FR" altLang="fr-FR" sz="8000" b="1">
              <a:solidFill>
                <a:srgbClr val="272659"/>
              </a:solidFill>
              <a:latin typeface="Cabinet Grotesk" pitchFamily="50" charset="0"/>
            </a:endParaRPr>
          </a:p>
          <a:p>
            <a:pPr algn="ctr">
              <a:spcAft>
                <a:spcPts val="1200"/>
              </a:spcAft>
            </a:pPr>
            <a:r>
              <a:rPr lang="fr-FR" altLang="fr-FR" sz="8000" b="1">
                <a:solidFill>
                  <a:srgbClr val="272659"/>
                </a:solidFill>
                <a:latin typeface="Cabinet Grotesk" pitchFamily="50" charset="0"/>
              </a:rPr>
              <a:t>Analyse des données publiques sur la qualité de l’eau</a:t>
            </a:r>
          </a:p>
          <a:p>
            <a:pPr algn="ctr">
              <a:spcAft>
                <a:spcPts val="1200"/>
              </a:spcAft>
            </a:pPr>
            <a:endParaRPr lang="fr-FR" altLang="fr-FR" sz="8000" b="1">
              <a:solidFill>
                <a:srgbClr val="272659"/>
              </a:solidFill>
              <a:latin typeface="Cabinet Grotesk" pitchFamily="50" charset="0"/>
            </a:endParaRPr>
          </a:p>
        </p:txBody>
      </p:sp>
      <p:sp>
        <p:nvSpPr>
          <p:cNvPr id="14" name="ZoneTexte 12">
            <a:extLst>
              <a:ext uri="{FF2B5EF4-FFF2-40B4-BE49-F238E27FC236}">
                <a16:creationId xmlns:a16="http://schemas.microsoft.com/office/drawing/2014/main" id="{9FB07D16-5250-C6E1-EFD7-66AFDE717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294" y="7546631"/>
            <a:ext cx="14156664" cy="8217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4800" b="1" u="sng">
                <a:solidFill>
                  <a:srgbClr val="37AB51"/>
                </a:solidFill>
                <a:latin typeface="Cabinet Grotesk"/>
                <a:ea typeface="ＭＳ Ｐゴシック"/>
              </a:rPr>
              <a:t>Explication &amp; objectif du projet</a:t>
            </a:r>
            <a:endParaRPr lang="fr-FR" u="sng">
              <a:solidFill>
                <a:srgbClr val="37AB51"/>
              </a:solidFill>
            </a:endParaRPr>
          </a:p>
          <a:p>
            <a:pPr algn="just"/>
            <a:r>
              <a:rPr lang="fr-BE" sz="4000" b="1" i="1">
                <a:solidFill>
                  <a:srgbClr val="E94370"/>
                </a:solidFill>
                <a:latin typeface="Arial"/>
                <a:ea typeface="ＭＳ Ｐゴシック"/>
                <a:cs typeface="Arial"/>
              </a:rPr>
              <a:t>Description</a:t>
            </a:r>
            <a:endParaRPr lang="fr-BE" sz="4000" b="1" i="1">
              <a:solidFill>
                <a:srgbClr val="E94370"/>
              </a:solidFill>
              <a:cs typeface="Arial"/>
            </a:endParaRPr>
          </a:p>
          <a:p>
            <a:pPr algn="just"/>
            <a:r>
              <a:rPr lang="fr-BE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Ce projet vise</a:t>
            </a:r>
            <a:r>
              <a:rPr lang="fr-BE" sz="4000">
                <a:solidFill>
                  <a:srgbClr val="6C5098"/>
                </a:solidFill>
                <a:latin typeface="Cabinet Grotesk"/>
                <a:ea typeface="ＭＳ Ｐゴシック"/>
              </a:rPr>
              <a:t> </a:t>
            </a:r>
            <a:r>
              <a:rPr lang="fr-BE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à développer un programme d’exploration des données publiques sur la qualité de l’eau à l'échelle locale ainsi que mondiale.</a:t>
            </a:r>
          </a:p>
          <a:p>
            <a:pPr algn="just"/>
            <a:endParaRPr lang="fr-BE" sz="4000">
              <a:solidFill>
                <a:srgbClr val="6C5098"/>
              </a:solidFill>
              <a:latin typeface="Arial"/>
              <a:ea typeface="ＭＳ Ｐゴシック"/>
              <a:cs typeface="Arial"/>
            </a:endParaRPr>
          </a:p>
          <a:p>
            <a:pPr algn="just"/>
            <a:endParaRPr lang="fr-BE" sz="4000">
              <a:solidFill>
                <a:srgbClr val="6C5098"/>
              </a:solidFill>
              <a:latin typeface="Arial"/>
              <a:ea typeface="ＭＳ Ｐゴシック"/>
              <a:cs typeface="Arial"/>
            </a:endParaRPr>
          </a:p>
          <a:p>
            <a:pPr algn="just"/>
            <a:endParaRPr lang="fr-BE" sz="4000" b="1" i="1">
              <a:solidFill>
                <a:srgbClr val="E94370"/>
              </a:solidFill>
              <a:latin typeface="Arial"/>
              <a:ea typeface="ＭＳ Ｐゴシック"/>
              <a:cs typeface="Arial"/>
            </a:endParaRPr>
          </a:p>
          <a:p>
            <a:pPr algn="just"/>
            <a:endParaRPr lang="fr-BE" sz="4000" b="1" i="1">
              <a:solidFill>
                <a:srgbClr val="E94370"/>
              </a:solidFill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endParaRPr lang="fr-BE" sz="4000">
              <a:solidFill>
                <a:srgbClr val="6C5098"/>
              </a:solidFill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endParaRPr lang="fr-BE" sz="4000">
              <a:solidFill>
                <a:srgbClr val="6C5098"/>
              </a:solidFill>
              <a:latin typeface="Arial"/>
              <a:ea typeface="ＭＳ Ｐゴシック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endParaRPr lang="fr-BE" sz="4000">
              <a:solidFill>
                <a:srgbClr val="6C5098"/>
              </a:solidFill>
              <a:latin typeface="Arial"/>
              <a:ea typeface="ＭＳ Ｐゴシック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endParaRPr lang="fr-BE" sz="4000">
              <a:solidFill>
                <a:srgbClr val="6C5098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Zone de texte 40">
            <a:extLst>
              <a:ext uri="{FF2B5EF4-FFF2-40B4-BE49-F238E27FC236}">
                <a16:creationId xmlns:a16="http://schemas.microsoft.com/office/drawing/2014/main" id="{81778CBD-F1F0-202B-98E8-2D11B84FA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3742" y="4494904"/>
            <a:ext cx="20566311" cy="2561569"/>
          </a:xfrm>
          <a:prstGeom prst="rect">
            <a:avLst/>
          </a:prstGeom>
          <a:noFill/>
          <a:ln w="12700">
            <a:noFill/>
            <a:prstDash val="dash"/>
            <a:miter lim="800000"/>
            <a:headEnd/>
            <a:tailEnd/>
          </a:ln>
        </p:spPr>
        <p:txBody>
          <a:bodyPr lIns="91440" tIns="45720" rIns="91440" bIns="45720" anchor="t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spcAft>
                <a:spcPts val="1200"/>
              </a:spcAft>
            </a:pPr>
            <a:r>
              <a:rPr lang="fr-FR" altLang="fr-FR" sz="4800" b="1">
                <a:solidFill>
                  <a:srgbClr val="37AB51"/>
                </a:solidFill>
                <a:latin typeface="Cabinet Grotesk" pitchFamily="50" charset="0"/>
              </a:rPr>
              <a:t>UNIVERSITÉ LIBRE DE BRUXELLES – FACULTÉ DES SCIENCES</a:t>
            </a:r>
          </a:p>
          <a:p>
            <a:pPr algn="ctr">
              <a:spcAft>
                <a:spcPts val="1200"/>
              </a:spcAft>
            </a:pPr>
            <a:r>
              <a:rPr lang="fr-FR" altLang="fr-FR" sz="4800" b="1">
                <a:solidFill>
                  <a:srgbClr val="37AB51"/>
                </a:solidFill>
                <a:latin typeface="Cabinet Grotesk" pitchFamily="50" charset="0"/>
              </a:rPr>
              <a:t>DÉPARTEMENT D’INFORMATIQUE</a:t>
            </a:r>
          </a:p>
          <a:p>
            <a:pPr algn="ctr"/>
            <a:r>
              <a:rPr lang="fr-FR" altLang="fr-FR" sz="3600" b="1" i="1">
                <a:solidFill>
                  <a:srgbClr val="E94370"/>
                </a:solidFill>
                <a:latin typeface="Cabinet Grotesk"/>
                <a:ea typeface="ＭＳ Ｐゴシック"/>
                <a:cs typeface="Arial"/>
              </a:rPr>
              <a:t>Franklin FLAMENT</a:t>
            </a:r>
            <a:r>
              <a:rPr lang="fr-FR" altLang="fr-FR" sz="3600" b="1" i="1">
                <a:solidFill>
                  <a:srgbClr val="E94370"/>
                </a:solidFill>
                <a:latin typeface="Cabinet Grotesk"/>
                <a:ea typeface="ＭＳ Ｐゴシック"/>
              </a:rPr>
              <a:t>, Mikael TOM, Thomas JOSEPHY et Noé DEPAEPE</a:t>
            </a:r>
            <a:endParaRPr lang="fr-FR" altLang="fr-FR" sz="7200" b="1" i="1">
              <a:solidFill>
                <a:srgbClr val="E94370"/>
              </a:solidFill>
              <a:latin typeface="Cabinet Grotesk"/>
              <a:ea typeface="ＭＳ Ｐゴシック"/>
            </a:endParaRPr>
          </a:p>
        </p:txBody>
      </p:sp>
      <p:pic>
        <p:nvPicPr>
          <p:cNvPr id="7" name="Graphique 6" descr="Plongée avec un remplissage uni">
            <a:extLst>
              <a:ext uri="{FF2B5EF4-FFF2-40B4-BE49-F238E27FC236}">
                <a16:creationId xmlns:a16="http://schemas.microsoft.com/office/drawing/2014/main" id="{61797DD3-EFD3-88F8-7814-3E99A2CDC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8963" y="20351404"/>
            <a:ext cx="3809510" cy="3809071"/>
          </a:xfrm>
          <a:prstGeom prst="rect">
            <a:avLst/>
          </a:prstGeom>
        </p:spPr>
      </p:pic>
      <p:pic>
        <p:nvPicPr>
          <p:cNvPr id="11" name="Graphique 10" descr="Femme scientifique avec un remplissage uni">
            <a:extLst>
              <a:ext uri="{FF2B5EF4-FFF2-40B4-BE49-F238E27FC236}">
                <a16:creationId xmlns:a16="http://schemas.microsoft.com/office/drawing/2014/main" id="{8D965844-C489-6EAD-37F9-8235B78201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9060" y="20156658"/>
            <a:ext cx="4262206" cy="3871167"/>
          </a:xfrm>
          <a:prstGeom prst="rect">
            <a:avLst/>
          </a:prstGeom>
        </p:spPr>
      </p:pic>
      <p:pic>
        <p:nvPicPr>
          <p:cNvPr id="16" name="Graphique 15" descr="Microscope avec un remplissage uni">
            <a:extLst>
              <a:ext uri="{FF2B5EF4-FFF2-40B4-BE49-F238E27FC236}">
                <a16:creationId xmlns:a16="http://schemas.microsoft.com/office/drawing/2014/main" id="{045AB13A-9EC5-0228-2A4C-EAAA5DF098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5253" y="20435933"/>
            <a:ext cx="1339417" cy="1339466"/>
          </a:xfrm>
          <a:prstGeom prst="rect">
            <a:avLst/>
          </a:prstGeom>
        </p:spPr>
      </p:pic>
      <p:pic>
        <p:nvPicPr>
          <p:cNvPr id="20" name="Graphique 19" descr="Badge 1 avec un remplissage uni">
            <a:extLst>
              <a:ext uri="{FF2B5EF4-FFF2-40B4-BE49-F238E27FC236}">
                <a16:creationId xmlns:a16="http://schemas.microsoft.com/office/drawing/2014/main" id="{3DE64D1B-BB44-F162-D7F6-CB8EBDB78C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84374" y="23770785"/>
            <a:ext cx="976507" cy="976543"/>
          </a:xfrm>
          <a:prstGeom prst="rect">
            <a:avLst/>
          </a:prstGeom>
        </p:spPr>
      </p:pic>
      <p:pic>
        <p:nvPicPr>
          <p:cNvPr id="21" name="Graphique 20" descr="Serveur avec un remplissage uni">
            <a:extLst>
              <a:ext uri="{FF2B5EF4-FFF2-40B4-BE49-F238E27FC236}">
                <a16:creationId xmlns:a16="http://schemas.microsoft.com/office/drawing/2014/main" id="{21E9139A-1E58-0DC4-8512-9A814AEC0F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664587" y="20395884"/>
            <a:ext cx="3476401" cy="3614901"/>
          </a:xfrm>
          <a:prstGeom prst="rect">
            <a:avLst/>
          </a:prstGeom>
        </p:spPr>
      </p:pic>
      <p:pic>
        <p:nvPicPr>
          <p:cNvPr id="8" name="Graphique 7" descr="Ordinateur portable avec un remplissage uni">
            <a:extLst>
              <a:ext uri="{FF2B5EF4-FFF2-40B4-BE49-F238E27FC236}">
                <a16:creationId xmlns:a16="http://schemas.microsoft.com/office/drawing/2014/main" id="{29BB1597-7827-BDBE-412A-5F07F24CACC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294651" y="21383672"/>
            <a:ext cx="2674669" cy="2678783"/>
          </a:xfrm>
          <a:prstGeom prst="rect">
            <a:avLst/>
          </a:prstGeom>
        </p:spPr>
      </p:pic>
      <p:pic>
        <p:nvPicPr>
          <p:cNvPr id="6" name="Graphique 5" descr="Télécharger du cloud avec un remplissage uni">
            <a:extLst>
              <a:ext uri="{FF2B5EF4-FFF2-40B4-BE49-F238E27FC236}">
                <a16:creationId xmlns:a16="http://schemas.microsoft.com/office/drawing/2014/main" id="{1389E686-29EA-D12C-8B72-70533EEEB6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937460" y="20468914"/>
            <a:ext cx="1317877" cy="1317926"/>
          </a:xfrm>
          <a:prstGeom prst="rect">
            <a:avLst/>
          </a:prstGeom>
        </p:spPr>
      </p:pic>
      <p:pic>
        <p:nvPicPr>
          <p:cNvPr id="17" name="Graphique 16" descr="Papier avec un remplissage uni">
            <a:extLst>
              <a:ext uri="{FF2B5EF4-FFF2-40B4-BE49-F238E27FC236}">
                <a16:creationId xmlns:a16="http://schemas.microsoft.com/office/drawing/2014/main" id="{0AB9ED6F-48D0-220C-7412-FE4D5946B01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9629057" y="21587798"/>
            <a:ext cx="1200296" cy="1200341"/>
          </a:xfrm>
          <a:prstGeom prst="rect">
            <a:avLst/>
          </a:prstGeom>
        </p:spPr>
      </p:pic>
      <p:pic>
        <p:nvPicPr>
          <p:cNvPr id="19" name="Graphique 18" descr="Base de données avec un remplissage uni">
            <a:extLst>
              <a:ext uri="{FF2B5EF4-FFF2-40B4-BE49-F238E27FC236}">
                <a16:creationId xmlns:a16="http://schemas.microsoft.com/office/drawing/2014/main" id="{EBFEDE1D-AF9E-A6CE-4F52-92E3DAF4686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301192" y="21858293"/>
            <a:ext cx="1317878" cy="1317926"/>
          </a:xfrm>
          <a:prstGeom prst="rect">
            <a:avLst/>
          </a:prstGeom>
        </p:spPr>
      </p:pic>
      <p:pic>
        <p:nvPicPr>
          <p:cNvPr id="24" name="Graphique 23" descr="Tableau contour">
            <a:extLst>
              <a:ext uri="{FF2B5EF4-FFF2-40B4-BE49-F238E27FC236}">
                <a16:creationId xmlns:a16="http://schemas.microsoft.com/office/drawing/2014/main" id="{E5825D50-3279-3028-724F-F3069FD063F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607745" y="21838484"/>
            <a:ext cx="1401305" cy="1642476"/>
          </a:xfrm>
          <a:prstGeom prst="rect">
            <a:avLst/>
          </a:prstGeom>
        </p:spPr>
      </p:pic>
      <p:sp>
        <p:nvSpPr>
          <p:cNvPr id="26" name="Flèche : bas 25">
            <a:extLst>
              <a:ext uri="{FF2B5EF4-FFF2-40B4-BE49-F238E27FC236}">
                <a16:creationId xmlns:a16="http://schemas.microsoft.com/office/drawing/2014/main" id="{D7F8E028-EC05-8759-C969-E07ACC3D6E0B}"/>
              </a:ext>
            </a:extLst>
          </p:cNvPr>
          <p:cNvSpPr/>
          <p:nvPr/>
        </p:nvSpPr>
        <p:spPr bwMode="auto">
          <a:xfrm>
            <a:off x="28284739" y="21616792"/>
            <a:ext cx="714242" cy="1106271"/>
          </a:xfrm>
          <a:prstGeom prst="downArrow">
            <a:avLst/>
          </a:prstGeom>
          <a:solidFill>
            <a:srgbClr val="6C50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pic>
        <p:nvPicPr>
          <p:cNvPr id="29" name="Graphique 28" descr="Filtrer avec un remplissage uni">
            <a:extLst>
              <a:ext uri="{FF2B5EF4-FFF2-40B4-BE49-F238E27FC236}">
                <a16:creationId xmlns:a16="http://schemas.microsoft.com/office/drawing/2014/main" id="{C07770B2-44F3-9B4F-EC35-009638FB67E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0731976" y="26058351"/>
            <a:ext cx="1341135" cy="1433195"/>
          </a:xfrm>
          <a:prstGeom prst="rect">
            <a:avLst/>
          </a:prstGeom>
        </p:spPr>
      </p:pic>
      <p:pic>
        <p:nvPicPr>
          <p:cNvPr id="10" name="Graphique 9" descr="Document avec un remplissage uni">
            <a:extLst>
              <a:ext uri="{FF2B5EF4-FFF2-40B4-BE49-F238E27FC236}">
                <a16:creationId xmlns:a16="http://schemas.microsoft.com/office/drawing/2014/main" id="{41D61C61-FC88-13DE-C64E-912C6775796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6191887" y="26017626"/>
            <a:ext cx="2989432" cy="3022944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62DEDC52-EED9-B7F4-A92D-37949188A2F8}"/>
              </a:ext>
            </a:extLst>
          </p:cNvPr>
          <p:cNvSpPr txBox="1"/>
          <p:nvPr/>
        </p:nvSpPr>
        <p:spPr>
          <a:xfrm>
            <a:off x="26569064" y="25726061"/>
            <a:ext cx="145668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6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JSON</a:t>
            </a:r>
            <a:endParaRPr lang="fr-FR" sz="3600">
              <a:solidFill>
                <a:srgbClr val="6C5098"/>
              </a:solidFill>
              <a:cs typeface="Arial"/>
            </a:endParaRPr>
          </a:p>
        </p:txBody>
      </p:sp>
      <p:pic>
        <p:nvPicPr>
          <p:cNvPr id="30" name="Graphique 29" descr="Programmeur avec un remplissage uni">
            <a:extLst>
              <a:ext uri="{FF2B5EF4-FFF2-40B4-BE49-F238E27FC236}">
                <a16:creationId xmlns:a16="http://schemas.microsoft.com/office/drawing/2014/main" id="{9659FFC8-EBD2-2E3D-DF56-CF5559E539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3168201" y="25873519"/>
            <a:ext cx="1597182" cy="1568078"/>
          </a:xfrm>
          <a:prstGeom prst="rect">
            <a:avLst/>
          </a:prstGeom>
        </p:spPr>
      </p:pic>
      <p:pic>
        <p:nvPicPr>
          <p:cNvPr id="31" name="Graphique 30" descr="Europe avec un remplissage uni">
            <a:extLst>
              <a:ext uri="{FF2B5EF4-FFF2-40B4-BE49-F238E27FC236}">
                <a16:creationId xmlns:a16="http://schemas.microsoft.com/office/drawing/2014/main" id="{F96D1CB8-EFC2-3DDA-6272-0277D5BFB89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7434607" y="25866799"/>
            <a:ext cx="3131286" cy="3349890"/>
          </a:xfrm>
          <a:prstGeom prst="rect">
            <a:avLst/>
          </a:prstGeom>
        </p:spPr>
      </p:pic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E89E9B40-E222-3FDF-9B01-E6038388CC9A}"/>
              </a:ext>
            </a:extLst>
          </p:cNvPr>
          <p:cNvCxnSpPr>
            <a:cxnSpLocks/>
          </p:cNvCxnSpPr>
          <p:nvPr/>
        </p:nvCxnSpPr>
        <p:spPr bwMode="auto">
          <a:xfrm flipH="1">
            <a:off x="19960730" y="26393383"/>
            <a:ext cx="1074086" cy="2570142"/>
          </a:xfrm>
          <a:prstGeom prst="straightConnector1">
            <a:avLst/>
          </a:prstGeom>
          <a:ln w="57150">
            <a:solidFill>
              <a:srgbClr val="37AC5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que 32" descr="Graphique à barres avec un remplissage uni">
            <a:extLst>
              <a:ext uri="{FF2B5EF4-FFF2-40B4-BE49-F238E27FC236}">
                <a16:creationId xmlns:a16="http://schemas.microsoft.com/office/drawing/2014/main" id="{32CD4575-8802-65EB-6669-33A68123BD7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0676783" y="26875338"/>
            <a:ext cx="1920768" cy="2061800"/>
          </a:xfrm>
          <a:prstGeom prst="rect">
            <a:avLst/>
          </a:prstGeom>
        </p:spPr>
      </p:pic>
      <p:pic>
        <p:nvPicPr>
          <p:cNvPr id="34" name="Graphique 33" descr="Fenêtre de navigateur avec un remplissage uni">
            <a:extLst>
              <a:ext uri="{FF2B5EF4-FFF2-40B4-BE49-F238E27FC236}">
                <a16:creationId xmlns:a16="http://schemas.microsoft.com/office/drawing/2014/main" id="{779982C9-5907-DEED-22FB-00583F5CC4D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001549" y="26021063"/>
            <a:ext cx="3302065" cy="3770350"/>
          </a:xfrm>
          <a:prstGeom prst="rect">
            <a:avLst/>
          </a:prstGeom>
        </p:spPr>
      </p:pic>
      <p:pic>
        <p:nvPicPr>
          <p:cNvPr id="36" name="Graphique 35" descr="Badge à suivre avec un remplissage uni">
            <a:extLst>
              <a:ext uri="{FF2B5EF4-FFF2-40B4-BE49-F238E27FC236}">
                <a16:creationId xmlns:a16="http://schemas.microsoft.com/office/drawing/2014/main" id="{20F4FC47-8333-FF42-4740-7301C00275A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5669528" y="26357832"/>
            <a:ext cx="1165596" cy="1165639"/>
          </a:xfrm>
          <a:prstGeom prst="rect">
            <a:avLst/>
          </a:prstGeom>
        </p:spPr>
      </p:pic>
      <p:pic>
        <p:nvPicPr>
          <p:cNvPr id="38" name="Graphique 37" descr="Internet contour">
            <a:extLst>
              <a:ext uri="{FF2B5EF4-FFF2-40B4-BE49-F238E27FC236}">
                <a16:creationId xmlns:a16="http://schemas.microsoft.com/office/drawing/2014/main" id="{EBF7F02B-D299-CD8F-4FA9-238A09BEE6F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200829" y="25405312"/>
            <a:ext cx="4361075" cy="4521491"/>
          </a:xfrm>
          <a:prstGeom prst="rect">
            <a:avLst/>
          </a:prstGeom>
        </p:spPr>
      </p:pic>
      <p:pic>
        <p:nvPicPr>
          <p:cNvPr id="44" name="Graphique 43" descr="Badge avec un remplissage uni">
            <a:extLst>
              <a:ext uri="{FF2B5EF4-FFF2-40B4-BE49-F238E27FC236}">
                <a16:creationId xmlns:a16="http://schemas.microsoft.com/office/drawing/2014/main" id="{A23B2B8D-0749-27EC-718D-30D10D06E67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494024" y="23763251"/>
            <a:ext cx="976507" cy="976543"/>
          </a:xfrm>
          <a:prstGeom prst="rect">
            <a:avLst/>
          </a:prstGeom>
        </p:spPr>
      </p:pic>
      <p:pic>
        <p:nvPicPr>
          <p:cNvPr id="55" name="Graphique 54" descr="Badge 6 avec un remplissage uni">
            <a:extLst>
              <a:ext uri="{FF2B5EF4-FFF2-40B4-BE49-F238E27FC236}">
                <a16:creationId xmlns:a16="http://schemas.microsoft.com/office/drawing/2014/main" id="{71F3877C-7355-AEBD-CA0C-19D8EEA6B16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7309767" y="29153659"/>
            <a:ext cx="914498" cy="914400"/>
          </a:xfrm>
          <a:prstGeom prst="rect">
            <a:avLst/>
          </a:prstGeom>
        </p:spPr>
      </p:pic>
      <p:pic>
        <p:nvPicPr>
          <p:cNvPr id="56" name="Graphique 55" descr="Badge 7 avec un remplissage uni">
            <a:extLst>
              <a:ext uri="{FF2B5EF4-FFF2-40B4-BE49-F238E27FC236}">
                <a16:creationId xmlns:a16="http://schemas.microsoft.com/office/drawing/2014/main" id="{08D6258F-76CE-D83B-83B6-CF56E45292D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480832" y="29152274"/>
            <a:ext cx="914498" cy="914400"/>
          </a:xfrm>
          <a:prstGeom prst="rect">
            <a:avLst/>
          </a:prstGeom>
        </p:spPr>
      </p:pic>
      <p:pic>
        <p:nvPicPr>
          <p:cNvPr id="57" name="Graphique 56" descr="Badge 8 avec un remplissage uni">
            <a:extLst>
              <a:ext uri="{FF2B5EF4-FFF2-40B4-BE49-F238E27FC236}">
                <a16:creationId xmlns:a16="http://schemas.microsoft.com/office/drawing/2014/main" id="{0C3423E1-8FE4-14A5-BE5E-6430CEF1004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751954" y="29148566"/>
            <a:ext cx="914498" cy="914400"/>
          </a:xfrm>
          <a:prstGeom prst="rect">
            <a:avLst/>
          </a:prstGeom>
        </p:spPr>
      </p:pic>
      <p:pic>
        <p:nvPicPr>
          <p:cNvPr id="45" name="Graphique 44" descr="Badge 3 avec un remplissage uni">
            <a:extLst>
              <a:ext uri="{FF2B5EF4-FFF2-40B4-BE49-F238E27FC236}">
                <a16:creationId xmlns:a16="http://schemas.microsoft.com/office/drawing/2014/main" id="{07EF4ACC-839E-43EF-0A1D-E71DF9EF189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7286607" y="23792482"/>
            <a:ext cx="914375" cy="914400"/>
          </a:xfrm>
          <a:prstGeom prst="rect">
            <a:avLst/>
          </a:prstGeom>
        </p:spPr>
      </p:pic>
      <p:pic>
        <p:nvPicPr>
          <p:cNvPr id="58" name="Graphique 57" descr="Badge 4 avec un remplissage uni">
            <a:extLst>
              <a:ext uri="{FF2B5EF4-FFF2-40B4-BE49-F238E27FC236}">
                <a16:creationId xmlns:a16="http://schemas.microsoft.com/office/drawing/2014/main" id="{F76D5C97-A38E-9BF1-4363-1D9D6AF85902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23830547" y="23825394"/>
            <a:ext cx="914375" cy="914400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484681B-BB25-0DB5-D00A-BF362924EA4E}"/>
              </a:ext>
            </a:extLst>
          </p:cNvPr>
          <p:cNvSpPr/>
          <p:nvPr/>
        </p:nvSpPr>
        <p:spPr bwMode="auto">
          <a:xfrm>
            <a:off x="18287091" y="7448173"/>
            <a:ext cx="13880914" cy="2206452"/>
          </a:xfrm>
          <a:prstGeom prst="roundRect">
            <a:avLst/>
          </a:prstGeom>
          <a:solidFill>
            <a:srgbClr val="E2DCEC"/>
          </a:solidFill>
          <a:ln w="25400" cap="flat" cmpd="sng" algn="ctr">
            <a:solidFill>
              <a:srgbClr val="6C509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Arial"/>
                <a:ea typeface="ＭＳ Ｐゴシック"/>
                <a:cs typeface="Arial"/>
              </a:rPr>
              <a:t>  </a:t>
            </a:r>
            <a:r>
              <a:rPr lang="fr-FR" b="1">
                <a:latin typeface="Arial"/>
                <a:ea typeface="ＭＳ Ｐゴシック"/>
                <a:cs typeface="Arial"/>
              </a:rPr>
              <a:t> </a:t>
            </a:r>
            <a:r>
              <a:rPr lang="fr-FR" sz="3600" b="1" i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Langage de programmation </a:t>
            </a:r>
            <a:r>
              <a:rPr lang="fr-FR" sz="36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:</a:t>
            </a:r>
            <a:r>
              <a:rPr lang="fr-FR" sz="36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 outil qui permet de donner des instructions à un ordinateur. Il existe plusieurs langages, adaptés selon nos besoins (sites web, jeux vidéo, etc.). </a:t>
            </a:r>
            <a:endParaRPr lang="fr-FR" sz="3600">
              <a:solidFill>
                <a:srgbClr val="6C5098"/>
              </a:solidFill>
              <a:cs typeface="Arial"/>
            </a:endParaRPr>
          </a:p>
        </p:txBody>
      </p:sp>
      <p:graphicFrame>
        <p:nvGraphicFramePr>
          <p:cNvPr id="62" name="Tableau 61">
            <a:extLst>
              <a:ext uri="{FF2B5EF4-FFF2-40B4-BE49-F238E27FC236}">
                <a16:creationId xmlns:a16="http://schemas.microsoft.com/office/drawing/2014/main" id="{29BDB3C6-1CB5-221B-63EA-F529D30E171F}"/>
              </a:ext>
            </a:extLst>
          </p:cNvPr>
          <p:cNvGraphicFramePr>
            <a:graphicFrameLocks noGrp="1"/>
          </p:cNvGraphicFramePr>
          <p:nvPr/>
        </p:nvGraphicFramePr>
        <p:xfrm>
          <a:off x="14525716" y="35495421"/>
          <a:ext cx="7988383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603">
                  <a:extLst>
                    <a:ext uri="{9D8B030D-6E8A-4147-A177-3AD203B41FA5}">
                      <a16:colId xmlns:a16="http://schemas.microsoft.com/office/drawing/2014/main" val="1565385895"/>
                    </a:ext>
                  </a:extLst>
                </a:gridCol>
                <a:gridCol w="1881817">
                  <a:extLst>
                    <a:ext uri="{9D8B030D-6E8A-4147-A177-3AD203B41FA5}">
                      <a16:colId xmlns:a16="http://schemas.microsoft.com/office/drawing/2014/main" val="2975341371"/>
                    </a:ext>
                  </a:extLst>
                </a:gridCol>
                <a:gridCol w="1493924">
                  <a:extLst>
                    <a:ext uri="{9D8B030D-6E8A-4147-A177-3AD203B41FA5}">
                      <a16:colId xmlns:a16="http://schemas.microsoft.com/office/drawing/2014/main" val="1929522187"/>
                    </a:ext>
                  </a:extLst>
                </a:gridCol>
                <a:gridCol w="2422036">
                  <a:extLst>
                    <a:ext uri="{9D8B030D-6E8A-4147-A177-3AD203B41FA5}">
                      <a16:colId xmlns:a16="http://schemas.microsoft.com/office/drawing/2014/main" val="1980295888"/>
                    </a:ext>
                  </a:extLst>
                </a:gridCol>
                <a:gridCol w="1233003">
                  <a:extLst>
                    <a:ext uri="{9D8B030D-6E8A-4147-A177-3AD203B41FA5}">
                      <a16:colId xmlns:a16="http://schemas.microsoft.com/office/drawing/2014/main" val="210294151"/>
                    </a:ext>
                  </a:extLst>
                </a:gridCol>
              </a:tblGrid>
              <a:tr h="5007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  <a:endParaRPr lang="fr-FR"/>
                    </a:p>
                  </a:txBody>
                  <a:tcPr>
                    <a:solidFill>
                      <a:srgbClr val="BDAFD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>
                          <a:solidFill>
                            <a:srgbClr val="000000"/>
                          </a:solidFill>
                          <a:latin typeface="Arial"/>
                        </a:rPr>
                        <a:t>Pays</a:t>
                      </a:r>
                    </a:p>
                  </a:txBody>
                  <a:tcPr>
                    <a:solidFill>
                      <a:srgbClr val="BDAFD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Ville</a:t>
                      </a:r>
                      <a:endParaRPr lang="fr-FR" sz="2800"/>
                    </a:p>
                  </a:txBody>
                  <a:tcPr>
                    <a:solidFill>
                      <a:srgbClr val="BDAFD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État de l'eau</a:t>
                      </a:r>
                    </a:p>
                  </a:txBody>
                  <a:tcPr>
                    <a:solidFill>
                      <a:srgbClr val="BDAFD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pH</a:t>
                      </a:r>
                      <a:endParaRPr lang="fr-FR" sz="2800"/>
                    </a:p>
                  </a:txBody>
                  <a:tcPr>
                    <a:solidFill>
                      <a:srgbClr val="BDA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282687"/>
                  </a:ext>
                </a:extLst>
              </a:tr>
              <a:tr h="5007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lang="fr-FR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Autriche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Vienne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Mouvement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6.8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256430"/>
                  </a:ext>
                </a:extLst>
              </a:tr>
              <a:tr h="5007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Belgique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Anvers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Stagnante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7.2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802206"/>
                  </a:ext>
                </a:extLst>
              </a:tr>
              <a:tr h="5007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Belgique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Mons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Mouvement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7.0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583149"/>
                  </a:ext>
                </a:extLst>
              </a:tr>
              <a:tr h="5007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Espagne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Mouvement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6.5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942489"/>
                  </a:ext>
                </a:extLst>
              </a:tr>
              <a:tr h="4897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lang="fr-FR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France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Toulon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Stagnante</a:t>
                      </a:r>
                      <a:endParaRPr lang="fr-FR" sz="2800" err="1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6.3</a:t>
                      </a:r>
                      <a:endParaRPr lang="fr-FR" sz="2800"/>
                    </a:p>
                  </a:txBody>
                  <a:tcPr>
                    <a:solidFill>
                      <a:srgbClr val="E2D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472848"/>
                  </a:ext>
                </a:extLst>
              </a:tr>
            </a:tbl>
          </a:graphicData>
        </a:graphic>
      </p:graphicFrame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F677E8B3-3CA8-2604-2478-A1380904B013}"/>
              </a:ext>
            </a:extLst>
          </p:cNvPr>
          <p:cNvSpPr/>
          <p:nvPr/>
        </p:nvSpPr>
        <p:spPr bwMode="auto">
          <a:xfrm>
            <a:off x="22764979" y="36667025"/>
            <a:ext cx="1611922" cy="857727"/>
          </a:xfrm>
          <a:prstGeom prst="rightArrow">
            <a:avLst/>
          </a:prstGeom>
          <a:solidFill>
            <a:srgbClr val="FF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1F28F78-0936-D72B-F4DC-A79A92FB0D82}"/>
              </a:ext>
            </a:extLst>
          </p:cNvPr>
          <p:cNvSpPr txBox="1"/>
          <p:nvPr/>
        </p:nvSpPr>
        <p:spPr>
          <a:xfrm>
            <a:off x="15301408" y="33054281"/>
            <a:ext cx="181509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40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SELECT  </a:t>
            </a:r>
            <a:r>
              <a:rPr lang="fr-FR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*  </a:t>
            </a:r>
            <a:r>
              <a:rPr lang="fr-FR" sz="40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FROM  </a:t>
            </a:r>
            <a:r>
              <a:rPr lang="fr-FR" sz="4000" err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WaterQuality</a:t>
            </a:r>
            <a:r>
              <a:rPr lang="fr-FR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  </a:t>
            </a:r>
            <a:r>
              <a:rPr lang="fr-FR" sz="40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WHERE  </a:t>
            </a:r>
            <a:r>
              <a:rPr lang="fr-FR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État de l'eau="Mouvement"</a:t>
            </a:r>
            <a:endParaRPr lang="fr-FR" sz="4000">
              <a:solidFill>
                <a:srgbClr val="6C5098"/>
              </a:solidFill>
              <a:cs typeface="Arial"/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7188A8D8-6E29-A897-93EF-0972EB3CB033}"/>
              </a:ext>
            </a:extLst>
          </p:cNvPr>
          <p:cNvSpPr txBox="1"/>
          <p:nvPr/>
        </p:nvSpPr>
        <p:spPr>
          <a:xfrm>
            <a:off x="14991584" y="34942819"/>
            <a:ext cx="66088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u="sng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Table de départ nommée </a:t>
            </a:r>
            <a:r>
              <a:rPr lang="fr-FR" sz="2800" b="1" u="sng" err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WaterQuality</a:t>
            </a:r>
            <a:endParaRPr lang="fr-FR" sz="2800" b="1" u="sng">
              <a:solidFill>
                <a:srgbClr val="6C5098"/>
              </a:solidFill>
              <a:cs typeface="Arial"/>
            </a:endParaRPr>
          </a:p>
        </p:txBody>
      </p:sp>
      <p:graphicFrame>
        <p:nvGraphicFramePr>
          <p:cNvPr id="41" name="Tableau 40">
            <a:extLst>
              <a:ext uri="{FF2B5EF4-FFF2-40B4-BE49-F238E27FC236}">
                <a16:creationId xmlns:a16="http://schemas.microsoft.com/office/drawing/2014/main" id="{675E4EA0-26A6-71DB-7630-52F1DD214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83874"/>
              </p:ext>
            </p:extLst>
          </p:nvPr>
        </p:nvGraphicFramePr>
        <p:xfrm>
          <a:off x="24611121" y="36032295"/>
          <a:ext cx="7461990" cy="227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215">
                  <a:extLst>
                    <a:ext uri="{9D8B030D-6E8A-4147-A177-3AD203B41FA5}">
                      <a16:colId xmlns:a16="http://schemas.microsoft.com/office/drawing/2014/main" val="1523799368"/>
                    </a:ext>
                  </a:extLst>
                </a:gridCol>
                <a:gridCol w="1700545">
                  <a:extLst>
                    <a:ext uri="{9D8B030D-6E8A-4147-A177-3AD203B41FA5}">
                      <a16:colId xmlns:a16="http://schemas.microsoft.com/office/drawing/2014/main" val="2945440769"/>
                    </a:ext>
                  </a:extLst>
                </a:gridCol>
                <a:gridCol w="1487975">
                  <a:extLst>
                    <a:ext uri="{9D8B030D-6E8A-4147-A177-3AD203B41FA5}">
                      <a16:colId xmlns:a16="http://schemas.microsoft.com/office/drawing/2014/main" val="1070705529"/>
                    </a:ext>
                  </a:extLst>
                </a:gridCol>
                <a:gridCol w="2295738">
                  <a:extLst>
                    <a:ext uri="{9D8B030D-6E8A-4147-A177-3AD203B41FA5}">
                      <a16:colId xmlns:a16="http://schemas.microsoft.com/office/drawing/2014/main" val="517826706"/>
                    </a:ext>
                  </a:extLst>
                </a:gridCol>
                <a:gridCol w="1297517">
                  <a:extLst>
                    <a:ext uri="{9D8B030D-6E8A-4147-A177-3AD203B41FA5}">
                      <a16:colId xmlns:a16="http://schemas.microsoft.com/office/drawing/2014/main" val="2170730351"/>
                    </a:ext>
                  </a:extLst>
                </a:gridCol>
              </a:tblGrid>
              <a:tr h="4686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>
                    <a:solidFill>
                      <a:srgbClr val="BDAFD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Pays</a:t>
                      </a:r>
                    </a:p>
                  </a:txBody>
                  <a:tcPr>
                    <a:solidFill>
                      <a:srgbClr val="BDAFD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Ville</a:t>
                      </a:r>
                    </a:p>
                  </a:txBody>
                  <a:tcPr>
                    <a:solidFill>
                      <a:srgbClr val="BDAFD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État de l'eau</a:t>
                      </a:r>
                    </a:p>
                  </a:txBody>
                  <a:tcPr>
                    <a:solidFill>
                      <a:srgbClr val="BDAFD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pH</a:t>
                      </a:r>
                    </a:p>
                  </a:txBody>
                  <a:tcPr>
                    <a:solidFill>
                      <a:srgbClr val="BDA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375339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lang="fr-FR"/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Autriche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Vienne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Mouvement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6.8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142641"/>
                  </a:ext>
                </a:extLst>
              </a:tr>
              <a:tr h="7211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Belgique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Mons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Mouvement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7.0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517119"/>
                  </a:ext>
                </a:extLst>
              </a:tr>
              <a:tr h="4686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Espagne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Mouvement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8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6.5</a:t>
                      </a:r>
                    </a:p>
                  </a:txBody>
                  <a:tcPr>
                    <a:solidFill>
                      <a:srgbClr val="E2D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006936"/>
                  </a:ext>
                </a:extLst>
              </a:tr>
            </a:tbl>
          </a:graphicData>
        </a:graphic>
      </p:graphicFrame>
      <p:sp>
        <p:nvSpPr>
          <p:cNvPr id="2048" name="ZoneTexte 2047">
            <a:extLst>
              <a:ext uri="{FF2B5EF4-FFF2-40B4-BE49-F238E27FC236}">
                <a16:creationId xmlns:a16="http://schemas.microsoft.com/office/drawing/2014/main" id="{B4EEA67A-DA73-633A-1375-558ECECE28D3}"/>
              </a:ext>
            </a:extLst>
          </p:cNvPr>
          <p:cNvSpPr txBox="1"/>
          <p:nvPr/>
        </p:nvSpPr>
        <p:spPr>
          <a:xfrm>
            <a:off x="15648480" y="32323462"/>
            <a:ext cx="1890566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4000" b="1" u="sng">
                <a:solidFill>
                  <a:srgbClr val="37AB51"/>
                </a:solidFill>
                <a:latin typeface="Arial"/>
                <a:ea typeface="ＭＳ Ｐゴシック"/>
                <a:cs typeface="Arial"/>
              </a:rPr>
              <a:t>Exemple : Requête gardant uniquement les eaux en mouvement</a:t>
            </a:r>
            <a:endParaRPr lang="fr-FR" sz="4000" b="1" u="sng">
              <a:solidFill>
                <a:srgbClr val="37AB51"/>
              </a:solidFill>
              <a:cs typeface="Arial"/>
            </a:endParaRPr>
          </a:p>
        </p:txBody>
      </p:sp>
      <p:sp>
        <p:nvSpPr>
          <p:cNvPr id="2049" name="ZoneTexte 2048">
            <a:extLst>
              <a:ext uri="{FF2B5EF4-FFF2-40B4-BE49-F238E27FC236}">
                <a16:creationId xmlns:a16="http://schemas.microsoft.com/office/drawing/2014/main" id="{9AB1F418-ED87-B928-8AF3-D0084E07DE4D}"/>
              </a:ext>
            </a:extLst>
          </p:cNvPr>
          <p:cNvSpPr txBox="1"/>
          <p:nvPr/>
        </p:nvSpPr>
        <p:spPr>
          <a:xfrm>
            <a:off x="1953113" y="13504896"/>
            <a:ext cx="1546460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fr-BE" sz="4000" b="1" i="1">
                <a:solidFill>
                  <a:srgbClr val="E94370"/>
                </a:solidFill>
                <a:latin typeface="Arial"/>
                <a:ea typeface="ＭＳ Ｐゴシック"/>
                <a:cs typeface="Segoe UI"/>
              </a:rPr>
              <a:t>Rôle de l'informatique ?</a:t>
            </a:r>
            <a:r>
              <a:rPr lang="fr-BE" sz="4000">
                <a:latin typeface="Arial"/>
                <a:ea typeface="ＭＳ Ｐゴシック"/>
                <a:cs typeface="Segoe UI"/>
              </a:rPr>
              <a:t>​</a:t>
            </a:r>
          </a:p>
          <a:p>
            <a:pPr marL="571500" indent="-571500" algn="just">
              <a:buFont typeface="Arial,Sans-Serif"/>
              <a:buChar char="•"/>
            </a:pPr>
            <a:r>
              <a:rPr lang="fr-BE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Croiser plusieurs bases de données publiques</a:t>
            </a:r>
            <a:r>
              <a:rPr lang="en-US" sz="4000">
                <a:latin typeface="Arial"/>
                <a:ea typeface="ＭＳ Ｐゴシック"/>
                <a:cs typeface="Arial"/>
              </a:rPr>
              <a:t>​.</a:t>
            </a:r>
          </a:p>
          <a:p>
            <a:pPr marL="571500" indent="-571500" algn="just">
              <a:buFont typeface="Arial,Sans-Serif"/>
              <a:buChar char="•"/>
            </a:pPr>
            <a:r>
              <a:rPr lang="fr-BE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Filtrage des données et harmonisation des unités de mesure</a:t>
            </a:r>
            <a:r>
              <a:rPr lang="fr-BE" sz="4000">
                <a:latin typeface="Arial"/>
                <a:ea typeface="ＭＳ Ｐゴシック"/>
                <a:cs typeface="Arial"/>
              </a:rPr>
              <a:t>​.</a:t>
            </a:r>
          </a:p>
          <a:p>
            <a:pPr marL="571500" indent="-571500" algn="just">
              <a:buFont typeface="Arial,Sans-Serif"/>
              <a:buChar char="•"/>
            </a:pPr>
            <a:r>
              <a:rPr lang="fr-BE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Visualisation sous forme de cartes et graphiques.</a:t>
            </a:r>
          </a:p>
        </p:txBody>
      </p:sp>
      <p:sp>
        <p:nvSpPr>
          <p:cNvPr id="2050" name="ZoneTexte 2049">
            <a:extLst>
              <a:ext uri="{FF2B5EF4-FFF2-40B4-BE49-F238E27FC236}">
                <a16:creationId xmlns:a16="http://schemas.microsoft.com/office/drawing/2014/main" id="{1F27F662-F2C8-467B-6377-AA67E2BD59F8}"/>
              </a:ext>
            </a:extLst>
          </p:cNvPr>
          <p:cNvSpPr txBox="1"/>
          <p:nvPr/>
        </p:nvSpPr>
        <p:spPr>
          <a:xfrm>
            <a:off x="2072223" y="10883527"/>
            <a:ext cx="15845764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fr-BE" sz="4000" b="1" i="1">
                <a:solidFill>
                  <a:srgbClr val="E94370"/>
                </a:solidFill>
                <a:latin typeface="Arial"/>
                <a:ea typeface="ＭＳ Ｐゴシック"/>
                <a:cs typeface="Segoe UI"/>
              </a:rPr>
              <a:t>Pourquoi ?</a:t>
            </a:r>
            <a:r>
              <a:rPr lang="fr-BE" sz="4000">
                <a:latin typeface="Arial"/>
                <a:ea typeface="ＭＳ Ｐゴシック"/>
                <a:cs typeface="Segoe UI"/>
              </a:rPr>
              <a:t>​</a:t>
            </a:r>
          </a:p>
          <a:p>
            <a:pPr marL="571500" indent="-571500" algn="just">
              <a:buFont typeface="Arial,Sans-Serif"/>
              <a:buChar char="•"/>
            </a:pPr>
            <a:r>
              <a:rPr lang="fr-BE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L'eau possède un rôle vital pour nos écosystèmes et nous-mêmes.</a:t>
            </a:r>
            <a:r>
              <a:rPr lang="en-US" sz="4000">
                <a:latin typeface="Arial"/>
                <a:ea typeface="ＭＳ Ｐゴシック"/>
                <a:cs typeface="Arial"/>
              </a:rPr>
              <a:t>​</a:t>
            </a:r>
          </a:p>
          <a:p>
            <a:pPr marL="571500" indent="-571500" algn="just">
              <a:buFont typeface="Arial,Sans-Serif"/>
              <a:buChar char="•"/>
            </a:pPr>
            <a:r>
              <a:rPr lang="fr-BE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Impact de la qualité de l'eau sur la santé humaine.</a:t>
            </a:r>
            <a:r>
              <a:rPr lang="en-US" sz="4000">
                <a:latin typeface="Arial"/>
                <a:ea typeface="ＭＳ Ｐゴシック"/>
                <a:cs typeface="Arial"/>
              </a:rPr>
              <a:t>​</a:t>
            </a:r>
          </a:p>
          <a:p>
            <a:pPr marL="571500" indent="-571500" algn="just">
              <a:buFont typeface="Arial,Sans-Serif"/>
              <a:buChar char="•"/>
            </a:pPr>
            <a:r>
              <a:rPr lang="fr-BE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Notion de gestion durable de l'eau.</a:t>
            </a:r>
            <a:endParaRPr lang="fr-BE" sz="4000">
              <a:solidFill>
                <a:srgbClr val="6C5098"/>
              </a:solidFill>
              <a:cs typeface="Arial"/>
            </a:endParaRPr>
          </a:p>
        </p:txBody>
      </p:sp>
      <p:sp>
        <p:nvSpPr>
          <p:cNvPr id="2053" name="ZoneTexte 2052">
            <a:extLst>
              <a:ext uri="{FF2B5EF4-FFF2-40B4-BE49-F238E27FC236}">
                <a16:creationId xmlns:a16="http://schemas.microsoft.com/office/drawing/2014/main" id="{076D7737-F274-ABAC-FBA0-570B4C4336F3}"/>
              </a:ext>
            </a:extLst>
          </p:cNvPr>
          <p:cNvSpPr txBox="1"/>
          <p:nvPr/>
        </p:nvSpPr>
        <p:spPr>
          <a:xfrm>
            <a:off x="2007667" y="16092087"/>
            <a:ext cx="1452864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BE" sz="4000" b="1" i="1">
                <a:solidFill>
                  <a:srgbClr val="E94370"/>
                </a:solidFill>
                <a:latin typeface="Arial"/>
                <a:ea typeface="ＭＳ Ｐゴシック"/>
                <a:cs typeface="Segoe UI"/>
              </a:rPr>
              <a:t>Quel domaine de l'informatique ?</a:t>
            </a:r>
            <a:r>
              <a:rPr lang="fr-BE" sz="4000">
                <a:latin typeface="Arial"/>
                <a:ea typeface="ＭＳ Ｐゴシック"/>
                <a:cs typeface="Segoe UI"/>
              </a:rPr>
              <a:t>​</a:t>
            </a:r>
            <a:endParaRPr lang="fr-FR" sz="4800">
              <a:latin typeface="Arial"/>
              <a:ea typeface="ＭＳ Ｐゴシック"/>
              <a:cs typeface="Segoe UI"/>
            </a:endParaRPr>
          </a:p>
          <a:p>
            <a:pPr algn="just"/>
            <a:r>
              <a:rPr lang="fr-BE" sz="40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Data Science : discipline qui consiste à collecter, filtrer, traiter, analyser et visualiser des données dans le but d'en extraire les plus pertinentes.</a:t>
            </a:r>
          </a:p>
        </p:txBody>
      </p:sp>
      <p:sp>
        <p:nvSpPr>
          <p:cNvPr id="2054" name="Rectangle : coins arrondis 2053">
            <a:extLst>
              <a:ext uri="{FF2B5EF4-FFF2-40B4-BE49-F238E27FC236}">
                <a16:creationId xmlns:a16="http://schemas.microsoft.com/office/drawing/2014/main" id="{2BD520F5-0E31-1DF7-6B66-9CDEF21B23A8}"/>
              </a:ext>
            </a:extLst>
          </p:cNvPr>
          <p:cNvSpPr/>
          <p:nvPr/>
        </p:nvSpPr>
        <p:spPr bwMode="auto">
          <a:xfrm>
            <a:off x="18280759" y="9985824"/>
            <a:ext cx="13874974" cy="2423055"/>
          </a:xfrm>
          <a:prstGeom prst="roundRect">
            <a:avLst/>
          </a:prstGeom>
          <a:solidFill>
            <a:srgbClr val="E2DCEC"/>
          </a:solidFill>
          <a:ln w="25400" cap="flat" cmpd="sng" algn="ctr">
            <a:solidFill>
              <a:srgbClr val="6C509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Arial"/>
                <a:ea typeface="ＭＳ Ｐゴシック"/>
                <a:cs typeface="Arial"/>
              </a:rPr>
              <a:t>  </a:t>
            </a:r>
            <a:r>
              <a:rPr lang="fr-FR" sz="2800">
                <a:latin typeface="Arial"/>
                <a:ea typeface="ＭＳ Ｐゴシック"/>
                <a:cs typeface="Arial"/>
              </a:rPr>
              <a:t> </a:t>
            </a:r>
            <a:r>
              <a:rPr lang="fr-FR" sz="3600" b="1" i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Base de données </a:t>
            </a:r>
            <a:r>
              <a:rPr lang="fr-FR" sz="36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: </a:t>
            </a:r>
            <a:r>
              <a:rPr lang="fr-FR" sz="36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système permettant de stocker, organiser et gérer des informations. Des informations peuvent être extraites ou manipulées à l'aide de demandes, que l’on appelle requêtes. </a:t>
            </a:r>
            <a:endParaRPr lang="fr-FR" sz="3600">
              <a:solidFill>
                <a:srgbClr val="6C5098"/>
              </a:solidFill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Rectangle : coins arrondis 2056">
                <a:extLst>
                  <a:ext uri="{FF2B5EF4-FFF2-40B4-BE49-F238E27FC236}">
                    <a16:creationId xmlns:a16="http://schemas.microsoft.com/office/drawing/2014/main" id="{3D51F207-48F8-B8F3-63E0-641487A2B8A7}"/>
                  </a:ext>
                </a:extLst>
              </p:cNvPr>
              <p:cNvSpPr/>
              <p:nvPr/>
            </p:nvSpPr>
            <p:spPr bwMode="auto">
              <a:xfrm>
                <a:off x="14167656" y="39189824"/>
                <a:ext cx="18320309" cy="3182718"/>
              </a:xfrm>
              <a:prstGeom prst="roundRect">
                <a:avLst/>
              </a:prstGeom>
              <a:solidFill>
                <a:srgbClr val="FFE4E9"/>
              </a:solidFill>
              <a:ln w="9525" cap="flat" cmpd="sng" algn="ctr">
                <a:solidFill>
                  <a:srgbClr val="E9427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fr-FR" sz="3600" b="1" dirty="0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Formule moyenne empirique </a:t>
                </a:r>
                <a:r>
                  <a:rPr lang="fr-FR" sz="3600" dirty="0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pour les tendances moyennes par pays</a:t>
                </a:r>
                <a:r>
                  <a:rPr lang="fr-FR" sz="3600" b="1" dirty="0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:</a:t>
                </a:r>
              </a:p>
              <a:p>
                <a:endParaRPr lang="fr-FR" sz="3200" b="1" u="sng" dirty="0">
                  <a:solidFill>
                    <a:srgbClr val="6C5098"/>
                  </a:solidFill>
                  <a:latin typeface="Arial"/>
                  <a:ea typeface="ＭＳ Ｐゴシック"/>
                  <a:cs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3600" i="1" smtClean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</m:ctrlPr>
                        </m:borderBoxPr>
                        <m:e>
                          <m:bar>
                            <m:barPr>
                              <m:pos m:val="top"/>
                              <m:ctrlPr>
                                <a:rPr lang="fr-FR" sz="360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</m:ctrlPr>
                            </m:barPr>
                            <m:e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𝑥</m:t>
                              </m:r>
                            </m:e>
                          </m:bar>
                          <m:r>
                            <a:rPr lang="fr-FR" sz="3600" b="0" i="1" smtClean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= </m:t>
                          </m:r>
                          <m:f>
                            <m:fPr>
                              <m:ctrlP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𝑥</m:t>
                              </m:r>
                              <m:r>
                                <a:rPr lang="fr-FR" sz="3600" b="0" i="1" baseline="-25000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1</m:t>
                              </m:r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+</m:t>
                              </m:r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𝑥</m:t>
                              </m:r>
                              <m:r>
                                <a:rPr lang="fr-FR" sz="3600" b="0" i="1" baseline="-25000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2</m:t>
                              </m:r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+</m:t>
                              </m:r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𝑥</m:t>
                              </m:r>
                              <m:r>
                                <a:rPr lang="fr-FR" sz="3600" b="0" i="1" baseline="-25000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3</m:t>
                              </m:r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+ …+</m:t>
                              </m:r>
                              <m:r>
                                <a:rPr lang="fr-FR" sz="3600" i="1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𝑥</m:t>
                              </m:r>
                              <m:r>
                                <a:rPr lang="fr-FR" sz="3600" b="0" i="1" baseline="-25000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𝑛</m:t>
                              </m:r>
                            </m:den>
                          </m:f>
                          <m:r>
                            <a:rPr lang="fr-FR" sz="3600" b="0" i="1" smtClean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= </m:t>
                          </m:r>
                          <m:f>
                            <m:fPr>
                              <m:ctrlP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𝑛</m:t>
                              </m:r>
                            </m:den>
                          </m:f>
                          <m:r>
                            <a:rPr lang="fr-FR" sz="3600" b="0" i="1" smtClean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𝑖</m:t>
                              </m:r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fr-FR" sz="3600" b="0" i="1" smtClean="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𝑥</m:t>
                              </m:r>
                              <m:r>
                                <a:rPr lang="fr-FR" sz="3600" i="1" baseline="-25000">
                                  <a:solidFill>
                                    <a:srgbClr val="FF6699"/>
                                  </a:solidFill>
                                  <a:latin typeface="Cambria Math" panose="02040503050406030204" pitchFamily="18" charset="0"/>
                                  <a:ea typeface="ＭＳ Ｐゴシック"/>
                                  <a:cs typeface="Arial"/>
                                </a:rPr>
                                <m:t>𝑖</m:t>
                              </m:r>
                            </m:e>
                          </m:nary>
                          <m:r>
                            <a:rPr lang="fr-FR" sz="3600" b="0" i="1" smtClean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  </m:t>
                          </m:r>
                        </m:e>
                      </m:borderBox>
                    </m:oMath>
                  </m:oMathPara>
                </a14:m>
                <a:endParaRPr lang="fr-FR" sz="3600" b="0" dirty="0">
                  <a:solidFill>
                    <a:srgbClr val="FF6699"/>
                  </a:solidFill>
                  <a:latin typeface="Arial"/>
                  <a:ea typeface="ＭＳ Ｐゴシック"/>
                  <a:cs typeface="Arial"/>
                </a:endParaRPr>
              </a:p>
            </p:txBody>
          </p:sp>
        </mc:Choice>
        <mc:Fallback xmlns="">
          <p:sp>
            <p:nvSpPr>
              <p:cNvPr id="2057" name="Rectangle : coins arrondis 2056">
                <a:extLst>
                  <a:ext uri="{FF2B5EF4-FFF2-40B4-BE49-F238E27FC236}">
                    <a16:creationId xmlns:a16="http://schemas.microsoft.com/office/drawing/2014/main" id="{3D51F207-48F8-B8F3-63E0-641487A2B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67656" y="39189824"/>
                <a:ext cx="18320309" cy="3182718"/>
              </a:xfrm>
              <a:prstGeom prst="roundRect">
                <a:avLst/>
              </a:prstGeom>
              <a:blipFill>
                <a:blip r:embed="rId52"/>
                <a:stretch>
                  <a:fillRect l="-139" t="-15476" b="-76587"/>
                </a:stretch>
              </a:blipFill>
              <a:ln w="9525" cap="flat" cmpd="sng" algn="ctr">
                <a:solidFill>
                  <a:srgbClr val="E9427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ZoneTexte 41">
            <a:extLst>
              <a:ext uri="{FF2B5EF4-FFF2-40B4-BE49-F238E27FC236}">
                <a16:creationId xmlns:a16="http://schemas.microsoft.com/office/drawing/2014/main" id="{A4829366-E4E3-DBAD-873A-13228486F4D8}"/>
              </a:ext>
            </a:extLst>
          </p:cNvPr>
          <p:cNvSpPr txBox="1"/>
          <p:nvPr/>
        </p:nvSpPr>
        <p:spPr>
          <a:xfrm>
            <a:off x="26029223" y="35384296"/>
            <a:ext cx="52074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 u="sng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Résultats</a:t>
            </a:r>
            <a:r>
              <a:rPr lang="fr-FR" sz="2800" u="sng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 après la requête :</a:t>
            </a:r>
            <a:endParaRPr lang="fr-FR" sz="2800" u="sng">
              <a:solidFill>
                <a:srgbClr val="6C5098"/>
              </a:solidFill>
              <a:cs typeface="Arial"/>
            </a:endParaRPr>
          </a:p>
        </p:txBody>
      </p:sp>
      <p:sp>
        <p:nvSpPr>
          <p:cNvPr id="48" name="Accolade fermante 47">
            <a:extLst>
              <a:ext uri="{FF2B5EF4-FFF2-40B4-BE49-F238E27FC236}">
                <a16:creationId xmlns:a16="http://schemas.microsoft.com/office/drawing/2014/main" id="{E9C52FAF-F64E-14F9-3E95-5C3AECB44A84}"/>
              </a:ext>
            </a:extLst>
          </p:cNvPr>
          <p:cNvSpPr/>
          <p:nvPr/>
        </p:nvSpPr>
        <p:spPr bwMode="auto">
          <a:xfrm rot="5400000">
            <a:off x="16212930" y="32976844"/>
            <a:ext cx="411137" cy="1916283"/>
          </a:xfrm>
          <a:prstGeom prst="rightBrace">
            <a:avLst/>
          </a:prstGeom>
          <a:noFill/>
          <a:ln w="44450" cap="flat" cmpd="sng" algn="ctr">
            <a:solidFill>
              <a:srgbClr val="FF66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49" name="Accolade fermante 48">
            <a:extLst>
              <a:ext uri="{FF2B5EF4-FFF2-40B4-BE49-F238E27FC236}">
                <a16:creationId xmlns:a16="http://schemas.microsoft.com/office/drawing/2014/main" id="{E28F4508-2AA6-10D3-BDDD-E854FAF9F367}"/>
              </a:ext>
            </a:extLst>
          </p:cNvPr>
          <p:cNvSpPr/>
          <p:nvPr/>
        </p:nvSpPr>
        <p:spPr bwMode="auto">
          <a:xfrm rot="5400000">
            <a:off x="18755516" y="33097070"/>
            <a:ext cx="411137" cy="1702864"/>
          </a:xfrm>
          <a:prstGeom prst="rightBrace">
            <a:avLst/>
          </a:prstGeom>
          <a:noFill/>
          <a:ln w="44450" cap="flat" cmpd="sng" algn="ctr">
            <a:solidFill>
              <a:srgbClr val="FF66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50" name="Accolade fermante 49">
            <a:extLst>
              <a:ext uri="{FF2B5EF4-FFF2-40B4-BE49-F238E27FC236}">
                <a16:creationId xmlns:a16="http://schemas.microsoft.com/office/drawing/2014/main" id="{E477CD86-8E6F-2375-0912-BCE339E39701}"/>
              </a:ext>
            </a:extLst>
          </p:cNvPr>
          <p:cNvSpPr/>
          <p:nvPr/>
        </p:nvSpPr>
        <p:spPr bwMode="auto">
          <a:xfrm rot="5400000">
            <a:off x="23944860" y="33022016"/>
            <a:ext cx="411137" cy="1916283"/>
          </a:xfrm>
          <a:prstGeom prst="rightBrace">
            <a:avLst/>
          </a:prstGeom>
          <a:noFill/>
          <a:ln w="44450" cap="flat" cmpd="sng" algn="ctr">
            <a:solidFill>
              <a:srgbClr val="FF66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C372D0E-8078-855C-BD7C-483220C8E631}"/>
              </a:ext>
            </a:extLst>
          </p:cNvPr>
          <p:cNvSpPr txBox="1"/>
          <p:nvPr/>
        </p:nvSpPr>
        <p:spPr>
          <a:xfrm>
            <a:off x="14799105" y="34187130"/>
            <a:ext cx="3586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rgbClr val="FF6699"/>
                </a:solidFill>
              </a:rPr>
              <a:t>Quelle colonne ?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E265FB85-AB5C-B578-1B60-CF0C6671B512}"/>
              </a:ext>
            </a:extLst>
          </p:cNvPr>
          <p:cNvSpPr txBox="1"/>
          <p:nvPr/>
        </p:nvSpPr>
        <p:spPr>
          <a:xfrm>
            <a:off x="18289666" y="34189145"/>
            <a:ext cx="33899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>
                <a:solidFill>
                  <a:srgbClr val="FF6699"/>
                </a:solidFill>
              </a:rPr>
              <a:t>Quelle table ?</a:t>
            </a:r>
          </a:p>
        </p:txBody>
      </p:sp>
      <p:sp>
        <p:nvSpPr>
          <p:cNvPr id="2058" name="ZoneTexte 2057">
            <a:extLst>
              <a:ext uri="{FF2B5EF4-FFF2-40B4-BE49-F238E27FC236}">
                <a16:creationId xmlns:a16="http://schemas.microsoft.com/office/drawing/2014/main" id="{0F8153FD-D05F-9F7A-7017-158BB9C62FC9}"/>
              </a:ext>
            </a:extLst>
          </p:cNvPr>
          <p:cNvSpPr txBox="1"/>
          <p:nvPr/>
        </p:nvSpPr>
        <p:spPr>
          <a:xfrm>
            <a:off x="23058875" y="34244246"/>
            <a:ext cx="29552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>
                <a:solidFill>
                  <a:srgbClr val="FF6699"/>
                </a:solidFill>
              </a:rPr>
              <a:t>Quel filtre ?</a:t>
            </a:r>
          </a:p>
        </p:txBody>
      </p:sp>
      <p:pic>
        <p:nvPicPr>
          <p:cNvPr id="2067" name="Graphique 2066" descr="Charger avec un remplissage uni">
            <a:extLst>
              <a:ext uri="{FF2B5EF4-FFF2-40B4-BE49-F238E27FC236}">
                <a16:creationId xmlns:a16="http://schemas.microsoft.com/office/drawing/2014/main" id="{347A0167-71BE-9A3E-27BA-E5E7E5546608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5725623" y="20468914"/>
            <a:ext cx="1369520" cy="1369570"/>
          </a:xfrm>
          <a:prstGeom prst="rect">
            <a:avLst/>
          </a:prstGeom>
        </p:spPr>
      </p:pic>
      <p:sp>
        <p:nvSpPr>
          <p:cNvPr id="2068" name="Flèche : droite 34">
            <a:extLst>
              <a:ext uri="{FF2B5EF4-FFF2-40B4-BE49-F238E27FC236}">
                <a16:creationId xmlns:a16="http://schemas.microsoft.com/office/drawing/2014/main" id="{CD1776A1-F7B8-DBF5-1044-18182D3AFC62}"/>
              </a:ext>
            </a:extLst>
          </p:cNvPr>
          <p:cNvSpPr/>
          <p:nvPr/>
        </p:nvSpPr>
        <p:spPr bwMode="auto">
          <a:xfrm>
            <a:off x="8099091" y="21609146"/>
            <a:ext cx="2246937" cy="954678"/>
          </a:xfrm>
          <a:prstGeom prst="rightArrow">
            <a:avLst/>
          </a:prstGeom>
          <a:solidFill>
            <a:srgbClr val="FF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071" name="Flèche : droite 34">
            <a:extLst>
              <a:ext uri="{FF2B5EF4-FFF2-40B4-BE49-F238E27FC236}">
                <a16:creationId xmlns:a16="http://schemas.microsoft.com/office/drawing/2014/main" id="{B8289B2E-32AE-7CFD-BD09-9F73CF15C3E3}"/>
              </a:ext>
            </a:extLst>
          </p:cNvPr>
          <p:cNvSpPr/>
          <p:nvPr/>
        </p:nvSpPr>
        <p:spPr bwMode="auto">
          <a:xfrm>
            <a:off x="15511524" y="21487140"/>
            <a:ext cx="2246937" cy="954678"/>
          </a:xfrm>
          <a:prstGeom prst="rightArrow">
            <a:avLst/>
          </a:prstGeom>
          <a:solidFill>
            <a:srgbClr val="FF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072" name="Virage 2071">
            <a:extLst>
              <a:ext uri="{FF2B5EF4-FFF2-40B4-BE49-F238E27FC236}">
                <a16:creationId xmlns:a16="http://schemas.microsoft.com/office/drawing/2014/main" id="{4F733765-5BC4-C58F-7817-43A49D005786}"/>
              </a:ext>
            </a:extLst>
          </p:cNvPr>
          <p:cNvSpPr/>
          <p:nvPr/>
        </p:nvSpPr>
        <p:spPr bwMode="auto">
          <a:xfrm rot="8346785">
            <a:off x="28720439" y="26316326"/>
            <a:ext cx="2330360" cy="1512679"/>
          </a:xfrm>
          <a:prstGeom prst="bentArrow">
            <a:avLst>
              <a:gd name="adj1" fmla="val 31146"/>
              <a:gd name="adj2" fmla="val 25000"/>
              <a:gd name="adj3" fmla="val 25000"/>
              <a:gd name="adj4" fmla="val 87500"/>
            </a:avLst>
          </a:prstGeom>
          <a:solidFill>
            <a:srgbClr val="FF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073" name="Flèche : droite 34">
            <a:extLst>
              <a:ext uri="{FF2B5EF4-FFF2-40B4-BE49-F238E27FC236}">
                <a16:creationId xmlns:a16="http://schemas.microsoft.com/office/drawing/2014/main" id="{28EECF75-086A-A135-CDFD-117468D625C4}"/>
              </a:ext>
            </a:extLst>
          </p:cNvPr>
          <p:cNvSpPr/>
          <p:nvPr/>
        </p:nvSpPr>
        <p:spPr bwMode="auto">
          <a:xfrm rot="10800000">
            <a:off x="22758300" y="27348969"/>
            <a:ext cx="2246937" cy="954678"/>
          </a:xfrm>
          <a:prstGeom prst="rightArrow">
            <a:avLst/>
          </a:prstGeom>
          <a:solidFill>
            <a:srgbClr val="FF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pic>
        <p:nvPicPr>
          <p:cNvPr id="2074" name="Graphique 2073" descr="Badge 5 avec un remplissage uni">
            <a:extLst>
              <a:ext uri="{FF2B5EF4-FFF2-40B4-BE49-F238E27FC236}">
                <a16:creationId xmlns:a16="http://schemas.microsoft.com/office/drawing/2014/main" id="{30DEB360-64B0-9CBF-33C7-F709D5A71F11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23858609" y="29237926"/>
            <a:ext cx="914375" cy="914400"/>
          </a:xfrm>
          <a:prstGeom prst="rect">
            <a:avLst/>
          </a:prstGeom>
        </p:spPr>
      </p:pic>
      <p:pic>
        <p:nvPicPr>
          <p:cNvPr id="2080" name="Graphique 2079" descr="Charger avec un remplissage uni">
            <a:extLst>
              <a:ext uri="{FF2B5EF4-FFF2-40B4-BE49-F238E27FC236}">
                <a16:creationId xmlns:a16="http://schemas.microsoft.com/office/drawing/2014/main" id="{3EE26894-1ABE-4702-15E6-D0910CA54C9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8618862" y="26393383"/>
            <a:ext cx="1369520" cy="1369570"/>
          </a:xfrm>
          <a:prstGeom prst="rect">
            <a:avLst/>
          </a:prstGeom>
        </p:spPr>
      </p:pic>
      <p:pic>
        <p:nvPicPr>
          <p:cNvPr id="2082" name="Graphique 2081" descr="Ampoule avec un remplissage uni">
            <a:extLst>
              <a:ext uri="{FF2B5EF4-FFF2-40B4-BE49-F238E27FC236}">
                <a16:creationId xmlns:a16="http://schemas.microsoft.com/office/drawing/2014/main" id="{59869A69-12F9-FC48-4547-912FB040BAE5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8767781" y="7559783"/>
            <a:ext cx="665372" cy="665372"/>
          </a:xfrm>
          <a:prstGeom prst="rect">
            <a:avLst/>
          </a:prstGeom>
        </p:spPr>
      </p:pic>
      <p:pic>
        <p:nvPicPr>
          <p:cNvPr id="2083" name="Graphique 2082" descr="Ampoule avec un remplissage uni">
            <a:extLst>
              <a:ext uri="{FF2B5EF4-FFF2-40B4-BE49-F238E27FC236}">
                <a16:creationId xmlns:a16="http://schemas.microsoft.com/office/drawing/2014/main" id="{C8E459F8-AC4E-BFD8-42C7-BC32D0708B61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8739206" y="10087650"/>
            <a:ext cx="665372" cy="665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84" name="Rectangle : coins arrondis 2083">
                <a:extLst>
                  <a:ext uri="{FF2B5EF4-FFF2-40B4-BE49-F238E27FC236}">
                    <a16:creationId xmlns:a16="http://schemas.microsoft.com/office/drawing/2014/main" id="{DB7193E4-97D8-954A-A5E7-17279F2A9C41}"/>
                  </a:ext>
                </a:extLst>
              </p:cNvPr>
              <p:cNvSpPr/>
              <p:nvPr/>
            </p:nvSpPr>
            <p:spPr bwMode="auto">
              <a:xfrm>
                <a:off x="2446398" y="32074417"/>
                <a:ext cx="10984292" cy="6864128"/>
              </a:xfrm>
              <a:prstGeom prst="roundRect">
                <a:avLst/>
              </a:prstGeom>
              <a:solidFill>
                <a:srgbClr val="E2DCEC"/>
              </a:solidFill>
              <a:ln w="25400" cap="flat" cmpd="sng" algn="ctr">
                <a:solidFill>
                  <a:srgbClr val="6C5098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fr-FR" sz="3600" b="1" i="1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Comment faire notre Machine Learning ?</a:t>
                </a:r>
              </a:p>
              <a:p>
                <a:endParaRPr lang="fr-FR" sz="3600" b="1">
                  <a:solidFill>
                    <a:srgbClr val="6C5098"/>
                  </a:solidFill>
                  <a:latin typeface="Arial"/>
                  <a:ea typeface="ＭＳ Ｐゴシック"/>
                  <a:cs typeface="Arial"/>
                </a:endParaRPr>
              </a:p>
              <a:p>
                <a:r>
                  <a:rPr lang="fr-FR" sz="3600" b="1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But : </a:t>
                </a:r>
                <a:r>
                  <a:rPr lang="fr-FR" sz="3600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ordinateur apprend à partir de données et fait des prédictions</a:t>
                </a:r>
                <a:endParaRPr lang="fr-FR" sz="3600" b="1">
                  <a:solidFill>
                    <a:srgbClr val="6C5098"/>
                  </a:solidFill>
                  <a:latin typeface="Arial"/>
                  <a:ea typeface="ＭＳ Ｐゴシック"/>
                  <a:cs typeface="Arial"/>
                </a:endParaRPr>
              </a:p>
              <a:p>
                <a:endParaRPr lang="fr-FR" sz="3600" b="1">
                  <a:solidFill>
                    <a:srgbClr val="6C5098"/>
                  </a:solidFill>
                  <a:latin typeface="Arial"/>
                  <a:ea typeface="ＭＳ Ｐゴシック"/>
                  <a:cs typeface="Arial"/>
                </a:endParaRPr>
              </a:p>
              <a:p>
                <a:pPr marL="571500" indent="-571500">
                  <a:buFont typeface="+mj-lt"/>
                  <a:buAutoNum type="arabicParenR"/>
                </a:pPr>
                <a:r>
                  <a:rPr lang="fr-FR" sz="3600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Regarde les données des années passées</a:t>
                </a:r>
              </a:p>
              <a:p>
                <a:pPr marL="571500" indent="-571500">
                  <a:buFont typeface="+mj-lt"/>
                  <a:buAutoNum type="arabicParenR"/>
                </a:pPr>
                <a:r>
                  <a:rPr lang="fr-FR" sz="3600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Ajoute un petit bruit aléatoire (du "hasard")</a:t>
                </a:r>
              </a:p>
              <a:p>
                <a:pPr marL="571500" indent="-571500">
                  <a:buFont typeface="+mj-lt"/>
                  <a:buAutoNum type="arabicParenR"/>
                </a:pPr>
                <a:r>
                  <a:rPr lang="fr-FR" sz="3600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Apprend à reconnaître une tendance</a:t>
                </a:r>
              </a:p>
              <a:p>
                <a:pPr marL="571500" indent="-571500">
                  <a:buFont typeface="+mj-lt"/>
                  <a:buAutoNum type="arabicParenR"/>
                </a:pPr>
                <a:r>
                  <a:rPr lang="fr-FR" sz="3600">
                    <a:solidFill>
                      <a:srgbClr val="6C5098"/>
                    </a:solidFill>
                    <a:latin typeface="Arial"/>
                    <a:ea typeface="ＭＳ Ｐゴシック"/>
                    <a:cs typeface="Arial"/>
                  </a:rPr>
                  <a:t>Devine les prochaines années grâce à la Régression Polynomiale de degré 1 à 4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3600" i="1" dirty="0" smtClean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</m:ctrlPr>
                        </m:borderBoxPr>
                        <m:e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𝑌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=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𝑎</m:t>
                          </m:r>
                          <m:r>
                            <a:rPr lang="fr-FR" sz="3600" i="1" baseline="-25000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4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 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𝑋</m:t>
                          </m:r>
                          <m:r>
                            <a:rPr lang="fr-FR" sz="3600" i="1" baseline="30000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4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+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𝑎</m:t>
                          </m:r>
                          <m:r>
                            <a:rPr lang="fr-FR" sz="3600" i="1" baseline="-25000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3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 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𝑋</m:t>
                          </m:r>
                          <m:r>
                            <a:rPr lang="fr-FR" sz="3600" i="1" baseline="30000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3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+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𝑎</m:t>
                          </m:r>
                          <m:r>
                            <a:rPr lang="fr-FR" sz="3600" i="1" baseline="-25000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2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 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𝑋</m:t>
                          </m:r>
                          <m:r>
                            <a:rPr lang="fr-FR" sz="3600" i="1" baseline="30000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2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+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𝑎</m:t>
                          </m:r>
                          <m:r>
                            <a:rPr lang="fr-FR" sz="3600" i="1" baseline="-25000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1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 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𝑋</m:t>
                          </m:r>
                          <m:r>
                            <a:rPr lang="fr-FR" sz="3600" i="1" baseline="30000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1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+</m:t>
                          </m:r>
                          <m:r>
                            <a:rPr lang="fr-FR" sz="3600" i="1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𝑎</m:t>
                          </m:r>
                          <m:r>
                            <a:rPr lang="fr-FR" sz="3600" i="1" baseline="-25000" dirty="0">
                              <a:solidFill>
                                <a:srgbClr val="FF6699"/>
                              </a:solidFill>
                              <a:latin typeface="Cambria Math" panose="02040503050406030204" pitchFamily="18" charset="0"/>
                              <a:ea typeface="ＭＳ Ｐゴシック"/>
                              <a:cs typeface="Arial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fr-FR" sz="3600" dirty="0">
                              <a:solidFill>
                                <a:srgbClr val="FF6699"/>
                              </a:solidFill>
                              <a:latin typeface="Arial"/>
                              <a:ea typeface="ＭＳ Ｐゴシック"/>
                              <a:cs typeface="Arial"/>
                            </a:rPr>
                            <m:t> </m:t>
                          </m:r>
                        </m:e>
                      </m:borderBox>
                    </m:oMath>
                  </m:oMathPara>
                </a14:m>
                <a:endParaRPr lang="fr-FR" sz="3600">
                  <a:solidFill>
                    <a:srgbClr val="6C5098"/>
                  </a:solidFill>
                  <a:latin typeface="Arial"/>
                  <a:ea typeface="ＭＳ Ｐゴシック"/>
                  <a:cs typeface="Arial"/>
                </a:endParaRPr>
              </a:p>
            </p:txBody>
          </p:sp>
        </mc:Choice>
        <mc:Fallback xmlns="">
          <p:sp>
            <p:nvSpPr>
              <p:cNvPr id="2084" name="Rectangle : coins arrondis 2083">
                <a:extLst>
                  <a:ext uri="{FF2B5EF4-FFF2-40B4-BE49-F238E27FC236}">
                    <a16:creationId xmlns:a16="http://schemas.microsoft.com/office/drawing/2014/main" id="{DB7193E4-97D8-954A-A5E7-17279F2A9C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6398" y="32074417"/>
                <a:ext cx="10984292" cy="6864128"/>
              </a:xfrm>
              <a:prstGeom prst="roundRect">
                <a:avLst/>
              </a:prstGeom>
              <a:blipFill>
                <a:blip r:embed="rId59"/>
                <a:stretch>
                  <a:fillRect b="-368"/>
                </a:stretch>
              </a:blipFill>
              <a:ln w="25400" cap="flat" cmpd="sng" algn="ctr">
                <a:solidFill>
                  <a:srgbClr val="6C5098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6" name="ZoneTexte 2085">
            <a:extLst>
              <a:ext uri="{FF2B5EF4-FFF2-40B4-BE49-F238E27FC236}">
                <a16:creationId xmlns:a16="http://schemas.microsoft.com/office/drawing/2014/main" id="{F93A97C2-C440-F8BD-7F57-DDF20FC51BFB}"/>
              </a:ext>
            </a:extLst>
          </p:cNvPr>
          <p:cNvSpPr txBox="1"/>
          <p:nvPr/>
        </p:nvSpPr>
        <p:spPr>
          <a:xfrm>
            <a:off x="3675212" y="23763163"/>
            <a:ext cx="60058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Récolte d'échantillons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 dans différents cours d'eau à travers les années</a:t>
            </a:r>
            <a:endParaRPr lang="fr-FR" sz="3600">
              <a:solidFill>
                <a:srgbClr val="2D8540"/>
              </a:solidFill>
              <a:latin typeface="Arial" charset="0"/>
              <a:ea typeface="ＭＳ Ｐゴシック" pitchFamily="1" charset="-128"/>
              <a:cs typeface="Arial"/>
            </a:endParaRPr>
          </a:p>
        </p:txBody>
      </p:sp>
      <p:sp>
        <p:nvSpPr>
          <p:cNvPr id="2087" name="Flèche : droite 34">
            <a:extLst>
              <a:ext uri="{FF2B5EF4-FFF2-40B4-BE49-F238E27FC236}">
                <a16:creationId xmlns:a16="http://schemas.microsoft.com/office/drawing/2014/main" id="{2E8A20E0-0D86-D54B-6632-A0EE088390B5}"/>
              </a:ext>
            </a:extLst>
          </p:cNvPr>
          <p:cNvSpPr/>
          <p:nvPr/>
        </p:nvSpPr>
        <p:spPr bwMode="auto">
          <a:xfrm>
            <a:off x="22692986" y="21495463"/>
            <a:ext cx="2246937" cy="954678"/>
          </a:xfrm>
          <a:prstGeom prst="rightArrow">
            <a:avLst/>
          </a:prstGeom>
          <a:solidFill>
            <a:srgbClr val="FF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089" name="ZoneTexte 2088">
            <a:extLst>
              <a:ext uri="{FF2B5EF4-FFF2-40B4-BE49-F238E27FC236}">
                <a16:creationId xmlns:a16="http://schemas.microsoft.com/office/drawing/2014/main" id="{47E82958-2DA5-1713-0088-3C3F4BD0DC56}"/>
              </a:ext>
            </a:extLst>
          </p:cNvPr>
          <p:cNvSpPr txBox="1"/>
          <p:nvPr/>
        </p:nvSpPr>
        <p:spPr>
          <a:xfrm>
            <a:off x="10586478" y="23768653"/>
            <a:ext cx="66446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Analyses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 des différents échantillons afin de déterminer la teneur de certains polluants</a:t>
            </a:r>
            <a:endParaRPr lang="fr-FR" sz="3600"/>
          </a:p>
        </p:txBody>
      </p:sp>
      <p:sp>
        <p:nvSpPr>
          <p:cNvPr id="2091" name="ZoneTexte 2090">
            <a:extLst>
              <a:ext uri="{FF2B5EF4-FFF2-40B4-BE49-F238E27FC236}">
                <a16:creationId xmlns:a16="http://schemas.microsoft.com/office/drawing/2014/main" id="{C7E927F3-B912-8091-5844-A97C50600DE3}"/>
              </a:ext>
            </a:extLst>
          </p:cNvPr>
          <p:cNvSpPr txBox="1"/>
          <p:nvPr/>
        </p:nvSpPr>
        <p:spPr>
          <a:xfrm>
            <a:off x="18226732" y="23837404"/>
            <a:ext cx="57751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Enregistrement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 des données récoltées dans des base de données </a:t>
            </a:r>
            <a:r>
              <a:rPr lang="fr-FR" sz="3600" i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"open-source"</a:t>
            </a:r>
            <a:endParaRPr lang="fr-FR" sz="3600" i="1">
              <a:solidFill>
                <a:srgbClr val="2D8540"/>
              </a:solidFill>
              <a:latin typeface="Arial" charset="0"/>
              <a:ea typeface="ＭＳ Ｐゴシック" pitchFamily="1" charset="-128"/>
              <a:cs typeface="Arial"/>
            </a:endParaRPr>
          </a:p>
        </p:txBody>
      </p:sp>
      <p:sp>
        <p:nvSpPr>
          <p:cNvPr id="2093" name="ZoneTexte 2092">
            <a:extLst>
              <a:ext uri="{FF2B5EF4-FFF2-40B4-BE49-F238E27FC236}">
                <a16:creationId xmlns:a16="http://schemas.microsoft.com/office/drawing/2014/main" id="{2108AA0A-EB16-00F3-1D02-8B4299F6C8A8}"/>
              </a:ext>
            </a:extLst>
          </p:cNvPr>
          <p:cNvSpPr txBox="1"/>
          <p:nvPr/>
        </p:nvSpPr>
        <p:spPr>
          <a:xfrm>
            <a:off x="24761972" y="23628674"/>
            <a:ext cx="68354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Récupération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 des bases de données, traitements et filtrage de celles-ci dans le programme</a:t>
            </a:r>
            <a:endParaRPr lang="fr-FR" sz="3600">
              <a:solidFill>
                <a:srgbClr val="2D8540"/>
              </a:solidFill>
              <a:latin typeface="Arial" charset="0"/>
              <a:ea typeface="ＭＳ Ｐゴシック" pitchFamily="1" charset="-128"/>
              <a:cs typeface="Arial"/>
            </a:endParaRPr>
          </a:p>
        </p:txBody>
      </p:sp>
      <p:sp>
        <p:nvSpPr>
          <p:cNvPr id="2095" name="ZoneTexte 2094">
            <a:extLst>
              <a:ext uri="{FF2B5EF4-FFF2-40B4-BE49-F238E27FC236}">
                <a16:creationId xmlns:a16="http://schemas.microsoft.com/office/drawing/2014/main" id="{F2C19E08-55C7-F0C9-3CA9-5C32A91751B0}"/>
              </a:ext>
            </a:extLst>
          </p:cNvPr>
          <p:cNvSpPr txBox="1"/>
          <p:nvPr/>
        </p:nvSpPr>
        <p:spPr>
          <a:xfrm>
            <a:off x="24752789" y="28929105"/>
            <a:ext cx="68354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Conversion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des données 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dans un fichier JSON pour optimiser leurs utilisations </a:t>
            </a:r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+ Machine Learning</a:t>
            </a:r>
            <a:endParaRPr lang="fr-FR" sz="3600">
              <a:solidFill>
                <a:srgbClr val="2D8540"/>
              </a:solidFill>
              <a:latin typeface="Arial" charset="0"/>
              <a:ea typeface="ＭＳ Ｐゴシック" pitchFamily="1" charset="-128"/>
              <a:cs typeface="Arial"/>
            </a:endParaRPr>
          </a:p>
        </p:txBody>
      </p:sp>
      <p:sp>
        <p:nvSpPr>
          <p:cNvPr id="2098" name="Flèche : droite 34">
            <a:extLst>
              <a:ext uri="{FF2B5EF4-FFF2-40B4-BE49-F238E27FC236}">
                <a16:creationId xmlns:a16="http://schemas.microsoft.com/office/drawing/2014/main" id="{D2E43B14-B9FA-B9DE-231E-11426364EAC3}"/>
              </a:ext>
            </a:extLst>
          </p:cNvPr>
          <p:cNvSpPr/>
          <p:nvPr/>
        </p:nvSpPr>
        <p:spPr bwMode="auto">
          <a:xfrm rot="10800000">
            <a:off x="14952611" y="27369916"/>
            <a:ext cx="2246937" cy="954678"/>
          </a:xfrm>
          <a:prstGeom prst="rightArrow">
            <a:avLst/>
          </a:prstGeom>
          <a:solidFill>
            <a:srgbClr val="FF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100" name="Flèche : droite 34">
            <a:extLst>
              <a:ext uri="{FF2B5EF4-FFF2-40B4-BE49-F238E27FC236}">
                <a16:creationId xmlns:a16="http://schemas.microsoft.com/office/drawing/2014/main" id="{AF787B6F-2977-324A-91A6-7D8B6C2E495D}"/>
              </a:ext>
            </a:extLst>
          </p:cNvPr>
          <p:cNvSpPr/>
          <p:nvPr/>
        </p:nvSpPr>
        <p:spPr bwMode="auto">
          <a:xfrm rot="10800000">
            <a:off x="8148523" y="27458157"/>
            <a:ext cx="2246937" cy="954678"/>
          </a:xfrm>
          <a:prstGeom prst="rightArrow">
            <a:avLst/>
          </a:prstGeom>
          <a:solidFill>
            <a:srgbClr val="FF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102" name="ZoneTexte 2101">
            <a:extLst>
              <a:ext uri="{FF2B5EF4-FFF2-40B4-BE49-F238E27FC236}">
                <a16:creationId xmlns:a16="http://schemas.microsoft.com/office/drawing/2014/main" id="{F89FA872-DAE5-5270-ADAD-86BEDE41CA58}"/>
              </a:ext>
            </a:extLst>
          </p:cNvPr>
          <p:cNvSpPr txBox="1"/>
          <p:nvPr/>
        </p:nvSpPr>
        <p:spPr>
          <a:xfrm>
            <a:off x="18142980" y="29097413"/>
            <a:ext cx="5586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Création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 de différents </a:t>
            </a:r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graphiques et cartes</a:t>
            </a:r>
          </a:p>
        </p:txBody>
      </p:sp>
      <p:sp>
        <p:nvSpPr>
          <p:cNvPr id="2104" name="ZoneTexte 2103">
            <a:extLst>
              <a:ext uri="{FF2B5EF4-FFF2-40B4-BE49-F238E27FC236}">
                <a16:creationId xmlns:a16="http://schemas.microsoft.com/office/drawing/2014/main" id="{91F5ADC3-AEAE-D2D0-C3DD-4201E3C78D39}"/>
              </a:ext>
            </a:extLst>
          </p:cNvPr>
          <p:cNvSpPr txBox="1"/>
          <p:nvPr/>
        </p:nvSpPr>
        <p:spPr>
          <a:xfrm>
            <a:off x="10362097" y="29186193"/>
            <a:ext cx="64493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Création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de plusieurs pages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  </a:t>
            </a:r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web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 interactives contenant ces figures + </a:t>
            </a:r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ajout du CSS</a:t>
            </a:r>
            <a:endParaRPr lang="fr-FR" sz="3600" b="1">
              <a:solidFill>
                <a:srgbClr val="2D8540"/>
              </a:solidFill>
              <a:latin typeface="Arial" charset="0"/>
              <a:ea typeface="ＭＳ Ｐゴシック" pitchFamily="1" charset="-128"/>
              <a:cs typeface="Arial"/>
            </a:endParaRPr>
          </a:p>
        </p:txBody>
      </p:sp>
      <p:sp>
        <p:nvSpPr>
          <p:cNvPr id="2106" name="ZoneTexte 2105">
            <a:extLst>
              <a:ext uri="{FF2B5EF4-FFF2-40B4-BE49-F238E27FC236}">
                <a16:creationId xmlns:a16="http://schemas.microsoft.com/office/drawing/2014/main" id="{DEFCA130-7B89-0F51-4850-E24D77FD27C2}"/>
              </a:ext>
            </a:extLst>
          </p:cNvPr>
          <p:cNvSpPr txBox="1"/>
          <p:nvPr/>
        </p:nvSpPr>
        <p:spPr>
          <a:xfrm>
            <a:off x="3738216" y="29147761"/>
            <a:ext cx="43608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Mise en ligne </a:t>
            </a:r>
            <a:r>
              <a:rPr lang="fr-FR" sz="3600">
                <a:solidFill>
                  <a:srgbClr val="2D8540"/>
                </a:solidFill>
                <a:latin typeface="Arial"/>
                <a:ea typeface="ＭＳ Ｐゴシック"/>
                <a:cs typeface="Arial"/>
              </a:rPr>
              <a:t>d'un site avec les pages</a:t>
            </a:r>
            <a:endParaRPr lang="fr-FR" sz="3600">
              <a:solidFill>
                <a:srgbClr val="2D8540"/>
              </a:solidFill>
              <a:latin typeface="Arial" charset="0"/>
              <a:ea typeface="ＭＳ Ｐゴシック" pitchFamily="1" charset="-128"/>
              <a:cs typeface="Arial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4D6A5525-1177-249E-99C4-CB91328B44FF}"/>
              </a:ext>
            </a:extLst>
          </p:cNvPr>
          <p:cNvSpPr/>
          <p:nvPr/>
        </p:nvSpPr>
        <p:spPr bwMode="auto">
          <a:xfrm>
            <a:off x="3289141" y="39156994"/>
            <a:ext cx="8932654" cy="3337073"/>
          </a:xfrm>
          <a:prstGeom prst="ellipse">
            <a:avLst/>
          </a:prstGeom>
          <a:solidFill>
            <a:srgbClr val="E9FBEB"/>
          </a:solidFill>
          <a:ln w="9525" cap="flat" cmpd="sng" algn="ctr">
            <a:solidFill>
              <a:srgbClr val="37AC5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0426ABB-C20A-C301-57B4-CC7FF79F5E19}"/>
              </a:ext>
            </a:extLst>
          </p:cNvPr>
          <p:cNvSpPr/>
          <p:nvPr/>
        </p:nvSpPr>
        <p:spPr bwMode="auto">
          <a:xfrm>
            <a:off x="4137867" y="39802041"/>
            <a:ext cx="7396115" cy="2575088"/>
          </a:xfrm>
          <a:prstGeom prst="ellipse">
            <a:avLst/>
          </a:prstGeom>
          <a:solidFill>
            <a:srgbClr val="E2DCEC"/>
          </a:solidFill>
          <a:ln w="9525" cap="flat" cmpd="sng" algn="ctr">
            <a:solidFill>
              <a:srgbClr val="6C509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CD5D532A-7756-D656-88AD-0D231704EDC4}"/>
              </a:ext>
            </a:extLst>
          </p:cNvPr>
          <p:cNvSpPr/>
          <p:nvPr/>
        </p:nvSpPr>
        <p:spPr bwMode="auto">
          <a:xfrm>
            <a:off x="5277981" y="40371797"/>
            <a:ext cx="5228078" cy="1925038"/>
          </a:xfrm>
          <a:prstGeom prst="ellipse">
            <a:avLst/>
          </a:prstGeom>
          <a:solidFill>
            <a:srgbClr val="FFE4E9"/>
          </a:solidFill>
          <a:ln w="9525" cap="flat" cmpd="sng" algn="ctr">
            <a:solidFill>
              <a:srgbClr val="FF66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EA186CE-B674-A148-9F19-2BE314033E6C}"/>
              </a:ext>
            </a:extLst>
          </p:cNvPr>
          <p:cNvSpPr/>
          <p:nvPr/>
        </p:nvSpPr>
        <p:spPr bwMode="auto">
          <a:xfrm>
            <a:off x="5974483" y="41132178"/>
            <a:ext cx="3815049" cy="1084664"/>
          </a:xfrm>
          <a:prstGeom prst="ellipse">
            <a:avLst/>
          </a:prstGeom>
          <a:solidFill>
            <a:srgbClr val="FFEAED"/>
          </a:solidFill>
          <a:ln w="9525" cap="flat" cmpd="sng" algn="ctr">
            <a:solidFill>
              <a:srgbClr val="E9427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2EFA49F-21D1-00DA-DF1B-CB1DC9E44D6A}"/>
              </a:ext>
            </a:extLst>
          </p:cNvPr>
          <p:cNvSpPr txBox="1"/>
          <p:nvPr/>
        </p:nvSpPr>
        <p:spPr>
          <a:xfrm>
            <a:off x="6606901" y="41387475"/>
            <a:ext cx="289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E94270"/>
                </a:solidFill>
              </a:rPr>
              <a:t>Deep Learning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CC608AC-FDD3-A627-0071-D77CE696AB3D}"/>
              </a:ext>
            </a:extLst>
          </p:cNvPr>
          <p:cNvSpPr txBox="1"/>
          <p:nvPr/>
        </p:nvSpPr>
        <p:spPr>
          <a:xfrm>
            <a:off x="3315951" y="39535335"/>
            <a:ext cx="8926593" cy="1849589"/>
          </a:xfrm>
          <a:prstGeom prst="rect">
            <a:avLst/>
          </a:prstGeom>
          <a:noFill/>
        </p:spPr>
        <p:txBody>
          <a:bodyPr wrap="square" lIns="90000" tIns="46800" rtlCol="0">
            <a:prstTxWarp prst="textArchUp">
              <a:avLst>
                <a:gd name="adj" fmla="val 10731425"/>
              </a:avLst>
            </a:prstTxWarp>
            <a:spAutoFit/>
          </a:bodyPr>
          <a:lstStyle/>
          <a:p>
            <a:pPr algn="ctr"/>
            <a:r>
              <a:rPr lang="fr-FR" sz="3200" b="1">
                <a:solidFill>
                  <a:srgbClr val="37AC51"/>
                </a:solidFill>
              </a:rPr>
              <a:t>Intelligence Artificielle 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0A985CF0-D24E-FF27-09F4-A2D31E746A62}"/>
              </a:ext>
            </a:extLst>
          </p:cNvPr>
          <p:cNvSpPr txBox="1"/>
          <p:nvPr/>
        </p:nvSpPr>
        <p:spPr>
          <a:xfrm>
            <a:off x="3397820" y="40164954"/>
            <a:ext cx="8926593" cy="1629156"/>
          </a:xfrm>
          <a:prstGeom prst="rect">
            <a:avLst/>
          </a:prstGeom>
          <a:noFill/>
        </p:spPr>
        <p:txBody>
          <a:bodyPr wrap="square" lIns="90000" tIns="46800" rtlCol="0">
            <a:prstTxWarp prst="textArchUp">
              <a:avLst>
                <a:gd name="adj" fmla="val 10731425"/>
              </a:avLst>
            </a:prstTxWarp>
            <a:spAutoFit/>
          </a:bodyPr>
          <a:lstStyle/>
          <a:p>
            <a:pPr algn="ctr"/>
            <a:r>
              <a:rPr lang="fr-FR" sz="3200" b="1">
                <a:solidFill>
                  <a:srgbClr val="6C5098"/>
                </a:solidFill>
              </a:rPr>
              <a:t>Machine Learning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E422CE41-955F-E262-DE8D-DB5839B07EE8}"/>
              </a:ext>
            </a:extLst>
          </p:cNvPr>
          <p:cNvSpPr txBox="1"/>
          <p:nvPr/>
        </p:nvSpPr>
        <p:spPr>
          <a:xfrm>
            <a:off x="3635794" y="40914458"/>
            <a:ext cx="8926593" cy="1514379"/>
          </a:xfrm>
          <a:prstGeom prst="rect">
            <a:avLst/>
          </a:prstGeom>
          <a:noFill/>
        </p:spPr>
        <p:txBody>
          <a:bodyPr wrap="square" lIns="90000" tIns="46800" rtlCol="0">
            <a:prstTxWarp prst="textArchUp">
              <a:avLst>
                <a:gd name="adj" fmla="val 10731425"/>
              </a:avLst>
            </a:prstTxWarp>
            <a:spAutoFit/>
          </a:bodyPr>
          <a:lstStyle/>
          <a:p>
            <a:pPr algn="ctr"/>
            <a:r>
              <a:rPr lang="fr-FR" sz="3200" b="1">
                <a:solidFill>
                  <a:srgbClr val="FF6699"/>
                </a:solidFill>
              </a:rPr>
              <a:t>Réseaux Neuronaux</a:t>
            </a:r>
          </a:p>
        </p:txBody>
      </p:sp>
      <p:sp>
        <p:nvSpPr>
          <p:cNvPr id="2111" name="Flèche : droite 34">
            <a:extLst>
              <a:ext uri="{FF2B5EF4-FFF2-40B4-BE49-F238E27FC236}">
                <a16:creationId xmlns:a16="http://schemas.microsoft.com/office/drawing/2014/main" id="{39A49BC5-57A2-113B-63D0-0D076A5059CA}"/>
              </a:ext>
            </a:extLst>
          </p:cNvPr>
          <p:cNvSpPr/>
          <p:nvPr/>
        </p:nvSpPr>
        <p:spPr bwMode="auto">
          <a:xfrm>
            <a:off x="24266505" y="16436616"/>
            <a:ext cx="1613394" cy="954678"/>
          </a:xfrm>
          <a:prstGeom prst="rightArrow">
            <a:avLst/>
          </a:prstGeom>
          <a:solidFill>
            <a:srgbClr val="FF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pic>
        <p:nvPicPr>
          <p:cNvPr id="2114" name="Image 2113">
            <a:extLst>
              <a:ext uri="{FF2B5EF4-FFF2-40B4-BE49-F238E27FC236}">
                <a16:creationId xmlns:a16="http://schemas.microsoft.com/office/drawing/2014/main" id="{F6B2C4E8-F1E2-B98D-5DDF-588B6083C68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1409" y="15748636"/>
            <a:ext cx="4080287" cy="2477317"/>
          </a:xfrm>
          <a:prstGeom prst="rect">
            <a:avLst/>
          </a:prstGeom>
        </p:spPr>
      </p:pic>
      <p:sp>
        <p:nvSpPr>
          <p:cNvPr id="2128" name="ZoneTexte 2127">
            <a:extLst>
              <a:ext uri="{FF2B5EF4-FFF2-40B4-BE49-F238E27FC236}">
                <a16:creationId xmlns:a16="http://schemas.microsoft.com/office/drawing/2014/main" id="{4EC51730-84CD-ADDC-6223-508AAB35455E}"/>
              </a:ext>
            </a:extLst>
          </p:cNvPr>
          <p:cNvSpPr txBox="1"/>
          <p:nvPr/>
        </p:nvSpPr>
        <p:spPr>
          <a:xfrm>
            <a:off x="18517434" y="13062457"/>
            <a:ext cx="1416095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i="1">
                <a:solidFill>
                  <a:srgbClr val="E94270"/>
                </a:solidFill>
                <a:latin typeface="Arial"/>
                <a:ea typeface="ＭＳ Ｐゴシック"/>
                <a:cs typeface="Arial"/>
              </a:rPr>
              <a:t>Comment être beau ? </a:t>
            </a:r>
          </a:p>
          <a:p>
            <a:r>
              <a:rPr lang="fr-FR" sz="36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Lorsque tu crées un site web, tu utilises le langage </a:t>
            </a:r>
            <a:r>
              <a:rPr lang="fr-FR" sz="36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HTML pour créer le contenu</a:t>
            </a:r>
            <a:r>
              <a:rPr lang="fr-FR" sz="36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 (textes, etc.) qui est </a:t>
            </a:r>
            <a:r>
              <a:rPr lang="fr-FR" sz="36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fade et sans couleur</a:t>
            </a:r>
            <a:r>
              <a:rPr lang="fr-FR" sz="36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. Tu peux </a:t>
            </a:r>
            <a:r>
              <a:rPr lang="fr-FR" sz="36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utiliser le langage CSS </a:t>
            </a:r>
            <a:r>
              <a:rPr lang="fr-FR" sz="36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pour </a:t>
            </a:r>
            <a:r>
              <a:rPr lang="fr-FR" sz="36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rendre</a:t>
            </a:r>
            <a:r>
              <a:rPr lang="fr-FR" sz="36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 ta page </a:t>
            </a:r>
            <a:r>
              <a:rPr lang="fr-FR" sz="3600" b="1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plus belle </a:t>
            </a:r>
            <a:r>
              <a:rPr lang="fr-FR" sz="3600">
                <a:solidFill>
                  <a:srgbClr val="6C5098"/>
                </a:solidFill>
                <a:latin typeface="Arial"/>
                <a:ea typeface="ＭＳ Ｐゴシック"/>
                <a:cs typeface="Arial"/>
              </a:rPr>
              <a:t>!</a:t>
            </a:r>
          </a:p>
        </p:txBody>
      </p:sp>
      <p:sp>
        <p:nvSpPr>
          <p:cNvPr id="2130" name="ZoneTexte 2129">
            <a:extLst>
              <a:ext uri="{FF2B5EF4-FFF2-40B4-BE49-F238E27FC236}">
                <a16:creationId xmlns:a16="http://schemas.microsoft.com/office/drawing/2014/main" id="{AB42080F-1060-45C6-B9D8-259A8188FCD6}"/>
              </a:ext>
            </a:extLst>
          </p:cNvPr>
          <p:cNvSpPr txBox="1"/>
          <p:nvPr/>
        </p:nvSpPr>
        <p:spPr>
          <a:xfrm>
            <a:off x="24381458" y="15869155"/>
            <a:ext cx="1348017" cy="658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>
                <a:solidFill>
                  <a:srgbClr val="FF6699"/>
                </a:solidFill>
              </a:rPr>
              <a:t>CSS</a:t>
            </a:r>
          </a:p>
        </p:txBody>
      </p:sp>
      <p:pic>
        <p:nvPicPr>
          <p:cNvPr id="27" name="Image 26" descr="Une image contenant texte, capture d’écran, Police, bleu vert&#10;&#10;Le contenu généré par l’IA peut être incorrect.">
            <a:extLst>
              <a:ext uri="{FF2B5EF4-FFF2-40B4-BE49-F238E27FC236}">
                <a16:creationId xmlns:a16="http://schemas.microsoft.com/office/drawing/2014/main" id="{97664917-B221-7A97-5718-4BA87CBDD47A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4110" y="15549073"/>
            <a:ext cx="5384766" cy="3035050"/>
          </a:xfrm>
          <a:prstGeom prst="rect">
            <a:avLst/>
          </a:prstGeom>
        </p:spPr>
      </p:pic>
      <p:pic>
        <p:nvPicPr>
          <p:cNvPr id="47" name="Graphique 46" descr="Repère avec un remplissage uni">
            <a:extLst>
              <a:ext uri="{FF2B5EF4-FFF2-40B4-BE49-F238E27FC236}">
                <a16:creationId xmlns:a16="http://schemas.microsoft.com/office/drawing/2014/main" id="{6A28015F-2E4E-B292-5E80-E6EACBAB0F1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26234399" y="20003745"/>
            <a:ext cx="1700550" cy="1700550"/>
          </a:xfrm>
          <a:prstGeom prst="rect">
            <a:avLst/>
          </a:prstGeom>
        </p:spPr>
      </p:pic>
      <p:sp>
        <p:nvSpPr>
          <p:cNvPr id="53" name="ZoneTexte 52">
            <a:extLst>
              <a:ext uri="{FF2B5EF4-FFF2-40B4-BE49-F238E27FC236}">
                <a16:creationId xmlns:a16="http://schemas.microsoft.com/office/drawing/2014/main" id="{11BE39E0-032A-6328-21DC-C5B88D465CEC}"/>
              </a:ext>
            </a:extLst>
          </p:cNvPr>
          <p:cNvSpPr txBox="1"/>
          <p:nvPr/>
        </p:nvSpPr>
        <p:spPr>
          <a:xfrm>
            <a:off x="27507014" y="20258539"/>
            <a:ext cx="3106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>
                <a:solidFill>
                  <a:srgbClr val="E94270"/>
                </a:solidFill>
              </a:rPr>
              <a:t>Notre travail commence ici</a:t>
            </a:r>
          </a:p>
        </p:txBody>
      </p:sp>
      <p:pic>
        <p:nvPicPr>
          <p:cNvPr id="2055" name="Graphique 2054" descr="Document avec un remplissage uni">
            <a:extLst>
              <a:ext uri="{FF2B5EF4-FFF2-40B4-BE49-F238E27FC236}">
                <a16:creationId xmlns:a16="http://schemas.microsoft.com/office/drawing/2014/main" id="{97ACDF80-B85E-58F2-5B70-75E475854E2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flipH="1">
            <a:off x="26431204" y="21486007"/>
            <a:ext cx="1253590" cy="123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94262"/>
      </p:ext>
    </p:extLst>
  </p:cSld>
  <p:clrMapOvr>
    <a:masterClrMapping/>
  </p:clrMapOvr>
</p:sld>
</file>

<file path=ppt/theme/theme1.xml><?xml version="1.0" encoding="utf-8"?>
<a:theme xmlns:a="http://schemas.openxmlformats.org/drawingml/2006/main" name="Nouvelle présentation">
  <a:themeElements>
    <a:clrScheme name="Nouvelle pré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ouvelle pré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0CF562-40BB-4BD7-8471-026183095AC2}">
  <we:reference id="da8a021f-024e-402a-b2cb-dbbbc9c600b8" version="1.0.0.70" store="excatalog" storeType="excatalog"/>
  <we:alternateReferences>
    <we:reference id="WA200007371" version="1.0.0.70" store="fr-fr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</Words>
  <Application>Microsoft Macintosh PowerPoint</Application>
  <PresentationFormat>Personnalisé</PresentationFormat>
  <Paragraphs>114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ＭＳ Ｐゴシック</vt:lpstr>
      <vt:lpstr>Arial</vt:lpstr>
      <vt:lpstr>Arial,Sans-Serif</vt:lpstr>
      <vt:lpstr>Cabinet Grotesk</vt:lpstr>
      <vt:lpstr>Calibri</vt:lpstr>
      <vt:lpstr>Cambria Math</vt:lpstr>
      <vt:lpstr>Nouvelle présentation</vt:lpstr>
      <vt:lpstr>Présentation PowerPoint</vt:lpstr>
    </vt:vector>
  </TitlesOfParts>
  <Company>Elvira/Puttevils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Inforsciences</dc:creator>
  <cp:lastModifiedBy>TOM Mikael</cp:lastModifiedBy>
  <cp:revision>4</cp:revision>
  <cp:lastPrinted>2013-02-08T09:18:21Z</cp:lastPrinted>
  <dcterms:created xsi:type="dcterms:W3CDTF">2005-02-24T09:50:45Z</dcterms:created>
  <dcterms:modified xsi:type="dcterms:W3CDTF">2025-03-14T10:21:33Z</dcterms:modified>
</cp:coreProperties>
</file>